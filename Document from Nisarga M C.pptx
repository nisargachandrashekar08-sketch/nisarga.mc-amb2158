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</p:sldIdLst>
  <p:sldSz cy="6858000" cx="12192000"/>
  <p:notesSz cx="6858000" cy="9144000"/>
  <p:embeddedFontLst>
    <p:embeddedFont>
      <p:font typeface="Play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6" roundtripDataSignature="AMtx7mhhJ1Jj1jd1FhIyCg2/F569qSjV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969148-3B69-4D59-B2D2-107B8CB91B88}">
  <a:tblStyle styleId="{41969148-3B69-4D59-B2D2-107B8CB91B8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FF3AB62A-6C0E-45D0-962E-3FD9C66E40A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Play-bold.fntdata"/><Relationship Id="rId30" Type="http://schemas.openxmlformats.org/officeDocument/2006/relationships/slide" Target="slides/slide25.xml"/><Relationship Id="rId74" Type="http://schemas.openxmlformats.org/officeDocument/2006/relationships/font" Target="fonts/Play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customschemas.google.com/relationships/presentationmetadata" Target="meta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6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6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7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8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5.png"/><Relationship Id="rId4" Type="http://schemas.openxmlformats.org/officeDocument/2006/relationships/image" Target="../media/image3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0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title"/>
          </p:nvPr>
        </p:nvSpPr>
        <p:spPr>
          <a:xfrm>
            <a:off x="838200" y="188912"/>
            <a:ext cx="9780270" cy="49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Data Aggregation and Grouping</a:t>
            </a:r>
            <a:endParaRPr/>
          </a:p>
        </p:txBody>
      </p:sp>
      <p:graphicFrame>
        <p:nvGraphicFramePr>
          <p:cNvPr id="85" name="Google Shape;85;p1"/>
          <p:cNvGraphicFramePr/>
          <p:nvPr/>
        </p:nvGraphicFramePr>
        <p:xfrm>
          <a:off x="365760" y="681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{41969148-3B69-4D59-B2D2-107B8CB91B88}</a:tableStyleId>
              </a:tblPr>
              <a:tblGrid>
                <a:gridCol w="2899200"/>
                <a:gridCol w="8782275"/>
              </a:tblGrid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 u="none" cap="none" strike="noStrike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.groupby(column)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onsolas"/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Splits data into groups based on column values</a:t>
                      </a:r>
                      <a:endParaRPr sz="2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.agg()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onsolas"/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Applies aggregation functions to groups (sum, mean, std, count, min, max)</a:t>
                      </a:r>
                      <a:endParaRPr sz="2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.transform()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onsolas"/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Returns series with same shape as input, broadcasting group values</a:t>
                      </a:r>
                      <a:endParaRPr sz="2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.filter()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Selects entire groups based on group-level condition</a:t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.apply()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onsolas"/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Applies custom function to each group</a:t>
                      </a:r>
                      <a:endParaRPr sz="2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.pivot_table()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onsolas"/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spreadsheet-style pivot table with multi-level indexing</a:t>
                      </a:r>
                      <a:endParaRPr sz="2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200">
                          <a:solidFill>
                            <a:srgbClr val="BF4F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Multiple aggregations</a:t>
                      </a:r>
                      <a:endParaRPr b="1" sz="2200">
                        <a:solidFill>
                          <a:srgbClr val="BF4F14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Pass list of function names or dict mapping columns to functions</a:t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125095"/>
            <a:ext cx="10054590" cy="6864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nsolas"/>
              <a:buNone/>
            </a:pPr>
            <a:r>
              <a:rPr lang="en-IN">
                <a:latin typeface="Consolas"/>
                <a:ea typeface="Consolas"/>
                <a:cs typeface="Consolas"/>
                <a:sym typeface="Consolas"/>
              </a:rPr>
              <a:t>Basic grouping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005840"/>
            <a:ext cx="10515600" cy="5171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latin typeface="Consolas"/>
                <a:ea typeface="Consolas"/>
                <a:cs typeface="Consolas"/>
                <a:sym typeface="Consolas"/>
              </a:rPr>
              <a:t>df.groupby('column')             # Create GroupBy object</a:t>
            </a: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ct val="100000"/>
              <a:buNone/>
            </a:pPr>
            <a:r>
              <a:rPr lang="en-IN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# Multiple columns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>
                <a:latin typeface="Consolas"/>
                <a:ea typeface="Consolas"/>
                <a:cs typeface="Consolas"/>
                <a:sym typeface="Consolas"/>
              </a:rPr>
              <a:t>df.groupby(['col1', 'col2'])</a:t>
            </a: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# Aggregation functions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latin typeface="Consolas"/>
                <a:ea typeface="Consolas"/>
                <a:cs typeface="Consolas"/>
                <a:sym typeface="Consolas"/>
              </a:rPr>
              <a:t>df.groupby('column').sum()      # Sum per group</a:t>
            </a: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latin typeface="Consolas"/>
                <a:ea typeface="Consolas"/>
                <a:cs typeface="Consolas"/>
                <a:sym typeface="Consolas"/>
              </a:rPr>
              <a:t>df.groupby('column').mean()     # Mean per group</a:t>
            </a: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latin typeface="Consolas"/>
                <a:ea typeface="Consolas"/>
                <a:cs typeface="Consolas"/>
                <a:sym typeface="Consolas"/>
              </a:rPr>
              <a:t>df.groupby('column').count()    # Count per group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br>
              <a:rPr lang="en-IN">
                <a:latin typeface="Consolas"/>
                <a:ea typeface="Consolas"/>
                <a:cs typeface="Consolas"/>
                <a:sym typeface="Consolas"/>
              </a:rPr>
            </a:br>
            <a:r>
              <a:rPr lang="en-IN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# Multiple aggregations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onsolas"/>
                <a:ea typeface="Consolas"/>
                <a:cs typeface="Consolas"/>
                <a:sym typeface="Consolas"/>
              </a:rPr>
              <a:t>df.groupby('column').agg(['sum', 'mean', 'std'])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365760"/>
            <a:ext cx="10515600" cy="5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IN">
                <a:solidFill>
                  <a:srgbClr val="C00000"/>
                </a:solidFill>
              </a:rPr>
              <a:t># Custom aggregations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N"/>
            </a:b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df.groupby('column').agg({'col1': 'sum', 'col2': 'mean'})</a:t>
            </a:r>
            <a:br>
              <a:rPr lang="en-IN" sz="2600"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latin typeface="Consolas"/>
                <a:ea typeface="Consolas"/>
                <a:cs typeface="Consolas"/>
                <a:sym typeface="Consolas"/>
              </a:rPr>
            </a:br>
            <a:r>
              <a:rPr b="1" lang="en-IN">
                <a:solidFill>
                  <a:srgbClr val="C00000"/>
                </a:solidFill>
              </a:rPr>
              <a:t># Transformations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IN">
                <a:solidFill>
                  <a:srgbClr val="C00000"/>
                </a:solidFill>
              </a:rPr>
              <a:t># Broadcast group mean to all rows</a:t>
            </a:r>
            <a:br>
              <a:rPr lang="en-IN"/>
            </a:br>
            <a:br>
              <a:rPr lang="en-IN"/>
            </a:b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df.groupby('column').transform('mean')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838200" y="365760"/>
            <a:ext cx="10515600" cy="5811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IN">
                <a:solidFill>
                  <a:srgbClr val="C00000"/>
                </a:solidFill>
              </a:rPr>
              <a:t># Filtering groups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N"/>
            </a:b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df.groupby('column').filter(lambda x: len(x) &gt; 3)</a:t>
            </a:r>
            <a:br>
              <a:rPr lang="en-IN" sz="2600">
                <a:latin typeface="Consolas"/>
                <a:ea typeface="Consolas"/>
                <a:cs typeface="Consolas"/>
                <a:sym typeface="Consolas"/>
              </a:rPr>
            </a:br>
            <a:br>
              <a:rPr lang="en-IN"/>
            </a:br>
            <a:r>
              <a:rPr b="1" lang="en-IN">
                <a:solidFill>
                  <a:srgbClr val="C00000"/>
                </a:solidFill>
              </a:rPr>
              <a:t># Applying custom functions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N"/>
            </a:b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df.groupby('column').apply(custom_function)</a:t>
            </a:r>
            <a:br>
              <a:rPr lang="en-IN" sz="2600">
                <a:latin typeface="Consolas"/>
                <a:ea typeface="Consolas"/>
                <a:cs typeface="Consolas"/>
                <a:sym typeface="Consolas"/>
              </a:rPr>
            </a:br>
            <a:br>
              <a:rPr lang="en-IN"/>
            </a:br>
            <a:r>
              <a:rPr b="1" lang="en-IN">
                <a:solidFill>
                  <a:srgbClr val="C00000"/>
                </a:solidFill>
              </a:rPr>
              <a:t># Pivot tables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IN"/>
            </a:b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df.pivot_table(values='value_col', index='row_col', </a:t>
            </a:r>
            <a:br>
              <a:rPr lang="en-IN" sz="2600"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               columns='col_col', aggfunc='mean')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838200" y="365125"/>
            <a:ext cx="9700260" cy="480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953" y="1369563"/>
            <a:ext cx="10298551" cy="49512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>
            <p:ph type="title"/>
          </p:nvPr>
        </p:nvSpPr>
        <p:spPr>
          <a:xfrm>
            <a:off x="556532" y="643467"/>
            <a:ext cx="11210925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</a:pPr>
            <a:r>
              <a:rPr lang="en-IN" sz="3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Output</a:t>
            </a:r>
            <a:endParaRPr/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5304" y="1675227"/>
            <a:ext cx="8561392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9471660" cy="6292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.groupby()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076529"/>
            <a:ext cx="10524035" cy="49808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Splits the DataFrame into groups based on 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of the columns you specify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Those columns become 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grouping keys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they become the </a:t>
            </a: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index</a:t>
            </a: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the 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400"/>
              <a:buNone/>
            </a:pPr>
            <a:r>
              <a:rPr lang="en-IN" sz="2400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df.groupby(['Department', 'Experience’])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 cap="none" strike="noStrike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Pandas creates groups like: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(HR, 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(HR, 7)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(Sales, 5)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/>
              <a:t>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 cap="none" strike="noStrike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188912"/>
            <a:ext cx="9780270" cy="49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.sum()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997743"/>
            <a:ext cx="10515600" cy="4862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df.groupby(['Department', 'Experience']).sum()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Pandas: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Looks at each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Applies .sum() to </a:t>
            </a: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numeric columns only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Ignores non-numeric columns automatically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980122" y="4700320"/>
            <a:ext cx="10678477" cy="89255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by these columns, then perform aggregation on the remaining numeric columns.</a:t>
            </a:r>
            <a:endParaRPr b="1"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342900"/>
            <a:ext cx="10515600" cy="5834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df3=df.groupby('Experience').sum()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print(df3)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3" name="Google Shape;1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9302" y="1798277"/>
            <a:ext cx="8880558" cy="4536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838200" y="262255"/>
            <a:ext cx="9677400" cy="572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Aggregation Functions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838200" y="1188720"/>
            <a:ext cx="10515600" cy="4988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df.groupby('Department')['Salary'].sum()</a:t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6777" y="2393897"/>
            <a:ext cx="6608503" cy="3068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838200" y="188912"/>
            <a:ext cx="9780270" cy="49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.sum()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838200" y="997743"/>
            <a:ext cx="10515600" cy="4862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df1=df.groupby(['Department', 'Experience']).sum()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7" name="Google Shape;1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9348" y="2714587"/>
            <a:ext cx="8201645" cy="37205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838200" y="188912"/>
            <a:ext cx="9780270" cy="49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.sum()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838200" y="997743"/>
            <a:ext cx="10515600" cy="4862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df2=df.groupby('Department').sum()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print(df2)</a:t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3114" y="2419296"/>
            <a:ext cx="9582203" cy="29299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idx="1" type="body"/>
          </p:nvPr>
        </p:nvSpPr>
        <p:spPr>
          <a:xfrm>
            <a:off x="838200" y="400050"/>
            <a:ext cx="10515600" cy="5776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df5=df.groupby('Department')['Salary'].mean()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print(df5)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0" name="Google Shape;1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492" y="2336743"/>
            <a:ext cx="7740078" cy="344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838200" y="411480"/>
            <a:ext cx="10515600" cy="5765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df6=df.groupby('Department')['Employee'].count()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print(df6)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66" name="Google Shape;1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633" y="2129762"/>
            <a:ext cx="8416873" cy="3790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838200" y="223202"/>
            <a:ext cx="9185910" cy="457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Multiple Aggregations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1028700"/>
            <a:ext cx="10515600" cy="5148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df7=df.groupby('Department')['Salary'].agg(['sum', 'mean', 'std’])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print(df7)</a:t>
            </a:r>
            <a:endParaRPr/>
          </a:p>
        </p:txBody>
      </p:sp>
      <p:pic>
        <p:nvPicPr>
          <p:cNvPr id="173" name="Google Shape;1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489" y="2854295"/>
            <a:ext cx="9829022" cy="2975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838200" y="365125"/>
            <a:ext cx="9528810" cy="6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Custom Aggregations</a:t>
            </a:r>
            <a:endParaRPr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838200" y="1188720"/>
            <a:ext cx="10515600" cy="49882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df.groupby('Department').agg({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  'Salary': 'sum',    'Experience': 'mean’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800"/>
              <a:buNone/>
            </a:pPr>
            <a:r>
              <a:rPr b="1" lang="en-IN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0" name="Google Shape;18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044" y="2799053"/>
            <a:ext cx="8592886" cy="3566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9917430" cy="4806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Broadcast Group Mean to Each Row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838200" y="1165860"/>
            <a:ext cx="10515600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600"/>
              <a:buNone/>
            </a:pPr>
            <a:r>
              <a:rPr b="1" lang="en-IN" sz="2600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df9=df['Dept_Avg_Salary'] = df.groupby('Department')['Salary'].transform('mean’)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600"/>
              <a:buNone/>
            </a:pPr>
            <a:r>
              <a:rPr b="1" lang="en-IN" sz="2600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print(df9)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7" name="Google Shape;1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396" y="2764111"/>
            <a:ext cx="6940744" cy="3412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8501" y="2578056"/>
            <a:ext cx="4475869" cy="3278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8"/>
          <p:cNvSpPr txBox="1"/>
          <p:nvPr>
            <p:ph type="title"/>
          </p:nvPr>
        </p:nvSpPr>
        <p:spPr>
          <a:xfrm>
            <a:off x="838200" y="216535"/>
            <a:ext cx="9928860" cy="572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Filtering Groups</a:t>
            </a:r>
            <a:endParaRPr/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38200" y="1192053"/>
            <a:ext cx="10515600" cy="51368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600"/>
              <a:buNone/>
            </a:pPr>
            <a:r>
              <a:rPr b="1" lang="en-IN" sz="2600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df1=df.groupby('Department').filter(lambda x: len(x) &gt; 2)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340D"/>
              </a:buClr>
              <a:buSzPts val="2600"/>
              <a:buNone/>
            </a:pPr>
            <a:r>
              <a:rPr b="1" lang="en-IN" sz="2600">
                <a:solidFill>
                  <a:srgbClr val="7F340D"/>
                </a:solidFill>
                <a:latin typeface="Consolas"/>
                <a:ea typeface="Consolas"/>
                <a:cs typeface="Consolas"/>
                <a:sym typeface="Consolas"/>
              </a:rPr>
              <a:t>print(df1)</a:t>
            </a:r>
            <a:endParaRPr/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1062" y="2686898"/>
            <a:ext cx="8677322" cy="2330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/>
          <p:nvPr>
            <p:ph type="title"/>
          </p:nvPr>
        </p:nvSpPr>
        <p:spPr>
          <a:xfrm>
            <a:off x="838200" y="365125"/>
            <a:ext cx="10271760" cy="469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Pivot Tables</a:t>
            </a:r>
            <a:endParaRPr/>
          </a:p>
        </p:txBody>
      </p:sp>
      <p:sp>
        <p:nvSpPr>
          <p:cNvPr id="201" name="Google Shape;201;p19"/>
          <p:cNvSpPr txBox="1"/>
          <p:nvPr>
            <p:ph idx="1" type="body"/>
          </p:nvPr>
        </p:nvSpPr>
        <p:spPr>
          <a:xfrm>
            <a:off x="838200" y="1371600"/>
            <a:ext cx="10515600" cy="4805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340D"/>
              </a:buClr>
              <a:buSzPts val="2600"/>
              <a:buNone/>
            </a:pPr>
            <a:r>
              <a:rPr b="1" lang="en-IN" sz="2600">
                <a:solidFill>
                  <a:srgbClr val="7F34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#Mean salary by Department and Experience</a:t>
            </a:r>
            <a:endParaRPr b="1" sz="2600">
              <a:solidFill>
                <a:srgbClr val="7F34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>
              <a:solidFill>
                <a:srgbClr val="7F340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df.pivot_table(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values='Salary',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index='Department',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columns='Experience',   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aggfunc='mean’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>
            <p:ph type="title"/>
          </p:nvPr>
        </p:nvSpPr>
        <p:spPr>
          <a:xfrm>
            <a:off x="838200" y="670600"/>
            <a:ext cx="9780270" cy="617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Matplotlib Basic Plotting</a:t>
            </a:r>
            <a:br>
              <a:rPr lang="en-IN"/>
            </a:b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37210" y="1288455"/>
            <a:ext cx="10942320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 is the foundational plotting library in Python, providing comprehensive tools for creating static, animated, and interactive visualizations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8200" y="365125"/>
            <a:ext cx="10077450" cy="49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Line Plot</a:t>
            </a:r>
            <a:endParaRPr/>
          </a:p>
        </p:txBody>
      </p:sp>
      <p:sp>
        <p:nvSpPr>
          <p:cNvPr id="213" name="Google Shape;213;p21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A </a:t>
            </a:r>
            <a:r>
              <a:rPr b="1" lang="en-IN"/>
              <a:t>line plot</a:t>
            </a:r>
            <a:r>
              <a:rPr lang="en-IN"/>
              <a:t> is used to: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Show trends over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Show relationship between two numeric variables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Visualize continuous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It connects data points using straight lines.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 Python, we use </a:t>
            </a:r>
            <a:r>
              <a:rPr b="1" lang="en-IN"/>
              <a:t>Matplotlib</a:t>
            </a:r>
            <a:r>
              <a:rPr lang="en-IN"/>
              <a:t> to create line plots.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idx="1" type="body"/>
          </p:nvPr>
        </p:nvSpPr>
        <p:spPr>
          <a:xfrm>
            <a:off x="838200" y="388620"/>
            <a:ext cx="10515600" cy="5788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In Python, we use </a:t>
            </a:r>
            <a:r>
              <a:rPr b="1" lang="en-IN"/>
              <a:t>Matplotlib</a:t>
            </a:r>
            <a:r>
              <a:rPr lang="en-IN"/>
              <a:t> to create line plots.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IN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/>
              <a:t>#Basic Syntax of plt.plot()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IN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plt.plot(x, 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Where: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x → values for x-axis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y → values for y-axis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"/>
          <p:cNvSpPr txBox="1"/>
          <p:nvPr>
            <p:ph idx="1" type="body"/>
          </p:nvPr>
        </p:nvSpPr>
        <p:spPr>
          <a:xfrm>
            <a:off x="329103" y="320040"/>
            <a:ext cx="3842847" cy="3028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/>
              <a:t>Example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x = [1, 2, 3, 4]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y = [10, 20, 25, 30]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plt.plot(x, 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1034" y="0"/>
            <a:ext cx="6389346" cy="47440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23"/>
          <p:cNvGrpSpPr/>
          <p:nvPr/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226" name="Google Shape;226;p23"/>
            <p:cNvSpPr/>
            <p:nvPr/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0">
                  <a:srgbClr val="D86CCC">
                    <a:alpha val="0"/>
                  </a:srgbClr>
                </a:gs>
                <a:gs pos="19000">
                  <a:srgbClr val="D86CCC">
                    <a:alpha val="0"/>
                  </a:srgbClr>
                </a:gs>
                <a:gs pos="100000">
                  <a:srgbClr val="D86CC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23"/>
          <p:cNvSpPr txBox="1"/>
          <p:nvPr/>
        </p:nvSpPr>
        <p:spPr>
          <a:xfrm>
            <a:off x="125730" y="5192776"/>
            <a:ext cx="11670030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y, marker=None, linestyle=None, color=None, label=None)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>
            <p:ph type="title"/>
          </p:nvPr>
        </p:nvSpPr>
        <p:spPr>
          <a:xfrm>
            <a:off x="838200" y="365125"/>
            <a:ext cx="9986010" cy="4235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Common Markers</a:t>
            </a:r>
            <a:endParaRPr/>
          </a:p>
        </p:txBody>
      </p:sp>
      <p:graphicFrame>
        <p:nvGraphicFramePr>
          <p:cNvPr id="234" name="Google Shape;234;p24"/>
          <p:cNvGraphicFramePr/>
          <p:nvPr/>
        </p:nvGraphicFramePr>
        <p:xfrm>
          <a:off x="1604010" y="14752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3179275"/>
                <a:gridCol w="383495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IN" sz="2600"/>
                        <a:t>Marker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IN" sz="2600"/>
                        <a:t>Meaning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'o'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Circle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's'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Square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'^'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Triangle up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'v'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Triangle down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'*'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Star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'+'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Plus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'x'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X mark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'.'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Point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2050" y="2031348"/>
            <a:ext cx="6176010" cy="4587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1334453" y="743423"/>
            <a:ext cx="6097904" cy="312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548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y, marker='*')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 txBox="1"/>
          <p:nvPr>
            <p:ph type="title"/>
          </p:nvPr>
        </p:nvSpPr>
        <p:spPr>
          <a:xfrm>
            <a:off x="838200" y="365125"/>
            <a:ext cx="9906000" cy="492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linestyle</a:t>
            </a:r>
            <a:endParaRPr/>
          </a:p>
        </p:txBody>
      </p:sp>
      <p:sp>
        <p:nvSpPr>
          <p:cNvPr id="246" name="Google Shape;246;p26"/>
          <p:cNvSpPr txBox="1"/>
          <p:nvPr>
            <p:ph idx="1" type="body"/>
          </p:nvPr>
        </p:nvSpPr>
        <p:spPr>
          <a:xfrm>
            <a:off x="838200" y="1234440"/>
            <a:ext cx="10515600" cy="49425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Controls the style of the line.</a:t>
            </a:r>
            <a:endParaRPr/>
          </a:p>
        </p:txBody>
      </p:sp>
      <p:graphicFrame>
        <p:nvGraphicFramePr>
          <p:cNvPr id="247" name="Google Shape;247;p26"/>
          <p:cNvGraphicFramePr/>
          <p:nvPr/>
        </p:nvGraphicFramePr>
        <p:xfrm>
          <a:off x="6751320" y="320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2030725"/>
                <a:gridCol w="257175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Style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Meaning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'-'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Solid (default)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'--'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Dashed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'-.'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Dash-dot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':'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Dotted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8" name="Google Shape;248;p26"/>
          <p:cNvSpPr txBox="1"/>
          <p:nvPr/>
        </p:nvSpPr>
        <p:spPr>
          <a:xfrm>
            <a:off x="6003608" y="4033519"/>
            <a:ext cx="6097904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y, marker=‘*’, linestyle='--')</a:t>
            </a:r>
            <a:endParaRPr/>
          </a:p>
        </p:txBody>
      </p:sp>
      <p:pic>
        <p:nvPicPr>
          <p:cNvPr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670" y="2559050"/>
            <a:ext cx="529590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118110" y="297180"/>
            <a:ext cx="10515600" cy="5879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onsolas"/>
                <a:ea typeface="Consolas"/>
                <a:cs typeface="Consolas"/>
                <a:sym typeface="Consolas"/>
              </a:rPr>
              <a:t>plt.plot(x, y, marker='*', linestyle=":")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5" name="Google Shape;2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955958"/>
            <a:ext cx="5814591" cy="431911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 txBox="1"/>
          <p:nvPr/>
        </p:nvSpPr>
        <p:spPr>
          <a:xfrm>
            <a:off x="6678930" y="2493885"/>
            <a:ext cx="702087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y, marker='*', linestyle="dotted")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8"/>
          <p:cNvSpPr txBox="1"/>
          <p:nvPr>
            <p:ph type="title"/>
          </p:nvPr>
        </p:nvSpPr>
        <p:spPr>
          <a:xfrm>
            <a:off x="838200" y="365125"/>
            <a:ext cx="8054340" cy="4578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Color (Changes line color)</a:t>
            </a:r>
            <a:endParaRPr/>
          </a:p>
        </p:txBody>
      </p:sp>
      <p:sp>
        <p:nvSpPr>
          <p:cNvPr id="262" name="Google Shape;262;p28"/>
          <p:cNvSpPr txBox="1"/>
          <p:nvPr>
            <p:ph idx="1" type="body"/>
          </p:nvPr>
        </p:nvSpPr>
        <p:spPr>
          <a:xfrm>
            <a:off x="83820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plt.plot(x, y, marker=“^”,linestyle=“solid”,color='blue')</a:t>
            </a:r>
            <a:endParaRPr/>
          </a:p>
        </p:txBody>
      </p:sp>
      <p:pic>
        <p:nvPicPr>
          <p:cNvPr id="263" name="Google Shape;26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550" y="2049634"/>
            <a:ext cx="5981700" cy="44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 txBox="1"/>
          <p:nvPr/>
        </p:nvSpPr>
        <p:spPr>
          <a:xfrm>
            <a:off x="7232333" y="2274838"/>
            <a:ext cx="609790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Common colors: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'blue'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'red'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'green'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'black'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'yellow'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'purple'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'orange'</a:t>
            </a:r>
            <a:endParaRPr/>
          </a:p>
        </p:txBody>
      </p:sp>
      <p:sp>
        <p:nvSpPr>
          <p:cNvPr id="265" name="Google Shape;265;p28"/>
          <p:cNvSpPr/>
          <p:nvPr/>
        </p:nvSpPr>
        <p:spPr>
          <a:xfrm>
            <a:off x="6819900" y="5604669"/>
            <a:ext cx="4948791" cy="83099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Hex codes: '#FF5733'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RGB tuple: (0.2, 0.5, 0.8)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/>
          <p:nvPr>
            <p:ph type="title"/>
          </p:nvPr>
        </p:nvSpPr>
        <p:spPr>
          <a:xfrm>
            <a:off x="838200" y="365125"/>
            <a:ext cx="9803130" cy="6750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Label (Used for legend.)</a:t>
            </a:r>
            <a:endParaRPr/>
          </a:p>
        </p:txBody>
      </p:sp>
      <p:sp>
        <p:nvSpPr>
          <p:cNvPr id="271" name="Google Shape;271;p29"/>
          <p:cNvSpPr txBox="1"/>
          <p:nvPr>
            <p:ph idx="1" type="body"/>
          </p:nvPr>
        </p:nvSpPr>
        <p:spPr>
          <a:xfrm>
            <a:off x="285750" y="1253331"/>
            <a:ext cx="1106805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#Without plt.legend(), label will not show.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IN">
                <a:solidFill>
                  <a:srgbClr val="C00000"/>
                </a:solidFill>
              </a:rPr>
              <a:t>plt.plot(x, y, marker='o', linestyle='--', color='#FF5733', label='Data')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lang="en-IN">
                <a:solidFill>
                  <a:srgbClr val="C00000"/>
                </a:solidFill>
              </a:rPr>
              <a:t>plt.legend()</a:t>
            </a:r>
            <a:endParaRPr/>
          </a:p>
        </p:txBody>
      </p:sp>
      <p:pic>
        <p:nvPicPr>
          <p:cNvPr id="272" name="Google Shape;2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169409"/>
            <a:ext cx="6235065" cy="46314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0"/>
          <p:cNvSpPr txBox="1"/>
          <p:nvPr>
            <p:ph idx="1" type="body"/>
          </p:nvPr>
        </p:nvSpPr>
        <p:spPr>
          <a:xfrm>
            <a:off x="354330" y="308610"/>
            <a:ext cx="11635740" cy="5868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/>
              <a:t>Format String Shortcut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onsolas"/>
                <a:ea typeface="Consolas"/>
                <a:cs typeface="Consolas"/>
                <a:sym typeface="Consolas"/>
              </a:rPr>
              <a:t>plt.plot(x, y, marker='o', linestyle='--', color='blue’)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onsolas"/>
                <a:ea typeface="Consolas"/>
                <a:cs typeface="Consolas"/>
                <a:sym typeface="Consolas"/>
              </a:rPr>
              <a:t>OR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onsolas"/>
                <a:ea typeface="Consolas"/>
                <a:cs typeface="Consolas"/>
                <a:sym typeface="Consolas"/>
              </a:rPr>
              <a:t>plt.plot(x, y, 'o--b’)</a:t>
            </a:r>
            <a:r>
              <a:rPr b="1" lang="en-IN"/>
              <a:t>                       marker + linestyle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  <p:sp>
        <p:nvSpPr>
          <p:cNvPr id="278" name="Google Shape;278;p30"/>
          <p:cNvSpPr txBox="1"/>
          <p:nvPr/>
        </p:nvSpPr>
        <p:spPr>
          <a:xfrm>
            <a:off x="354330" y="3182778"/>
            <a:ext cx="6097904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marker + linestyle + color</a:t>
            </a:r>
            <a:endParaRPr/>
          </a:p>
        </p:txBody>
      </p:sp>
      <p:graphicFrame>
        <p:nvGraphicFramePr>
          <p:cNvPr id="279" name="Google Shape;279;p30"/>
          <p:cNvGraphicFramePr/>
          <p:nvPr/>
        </p:nvGraphicFramePr>
        <p:xfrm>
          <a:off x="6096000" y="29268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1630675"/>
                <a:gridCol w="26632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IN" sz="2600"/>
                        <a:t>Code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IN" sz="2600"/>
                        <a:t>Meaning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'r-'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Red solid line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'g--'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Green dashed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'bo'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Blue circles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'k:'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Black dotted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urier New"/>
                        <a:buNone/>
                      </a:pPr>
                      <a:r>
                        <a:rPr lang="en-IN" sz="2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'r*-'</a:t>
                      </a:r>
                      <a:endParaRPr sz="2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Arial"/>
                        <a:buNone/>
                      </a:pPr>
                      <a:r>
                        <a:rPr lang="en-IN" sz="2600"/>
                        <a:t>Red star solid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1"/>
          <p:cNvSpPr txBox="1"/>
          <p:nvPr>
            <p:ph type="title"/>
          </p:nvPr>
        </p:nvSpPr>
        <p:spPr>
          <a:xfrm>
            <a:off x="838200" y="365126"/>
            <a:ext cx="9243060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IN" sz="3600"/>
              <a:t>Plot Multiple Lines</a:t>
            </a:r>
            <a:endParaRPr/>
          </a:p>
        </p:txBody>
      </p:sp>
      <p:sp>
        <p:nvSpPr>
          <p:cNvPr id="285" name="Google Shape;285;p31"/>
          <p:cNvSpPr txBox="1"/>
          <p:nvPr/>
        </p:nvSpPr>
        <p:spPr>
          <a:xfrm>
            <a:off x="0" y="1876009"/>
            <a:ext cx="6097904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[1,2, 3, 4]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y1 = [10, 20, 25, 30]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y2 = [40, 50, 60, 70]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y1, label='Line 1')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y2, label='Line 2')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plt.legend()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286" name="Google Shape;2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407112"/>
            <a:ext cx="5693937" cy="4330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2"/>
          <p:cNvSpPr txBox="1"/>
          <p:nvPr>
            <p:ph type="title"/>
          </p:nvPr>
        </p:nvSpPr>
        <p:spPr>
          <a:xfrm>
            <a:off x="838200" y="365125"/>
            <a:ext cx="9243060" cy="5264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IN" sz="3600"/>
              <a:t>Adding Titles and Labels</a:t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488632" y="1528495"/>
            <a:ext cx="9946957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plt.title("Sales Over Time")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plt.xlabel("Months")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plt.ylabel("Revenue")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948" y="1731632"/>
            <a:ext cx="6027420" cy="4761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type="title"/>
          </p:nvPr>
        </p:nvSpPr>
        <p:spPr>
          <a:xfrm>
            <a:off x="963930" y="125096"/>
            <a:ext cx="7928610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 sz="3200"/>
              <a:t>Example</a:t>
            </a:r>
            <a:endParaRPr/>
          </a:p>
        </p:txBody>
      </p:sp>
      <p:sp>
        <p:nvSpPr>
          <p:cNvPr id="299" name="Google Shape;299;p33"/>
          <p:cNvSpPr txBox="1"/>
          <p:nvPr/>
        </p:nvSpPr>
        <p:spPr>
          <a:xfrm>
            <a:off x="397193" y="748284"/>
            <a:ext cx="5698808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[1, 2, 3, 4, 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[10, 25, 20, 30, 40]</a:t>
            </a: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 y, marker='o', linestyle='--', color='blue',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linewidth=2, markersize=8, label='Sales')</a:t>
            </a: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plt.title("Monthly Sales Trend")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plt.xlabel("Month")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plt.ylabel("Sales")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plt.legend()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plt.grid(True)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300" name="Google Shape;3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25017"/>
            <a:ext cx="5782391" cy="4681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4"/>
          <p:cNvSpPr txBox="1"/>
          <p:nvPr>
            <p:ph type="title"/>
          </p:nvPr>
        </p:nvSpPr>
        <p:spPr>
          <a:xfrm>
            <a:off x="838200" y="365125"/>
            <a:ext cx="9837420" cy="6864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Scatter Plot</a:t>
            </a:r>
            <a:endParaRPr/>
          </a:p>
        </p:txBody>
      </p:sp>
      <p:sp>
        <p:nvSpPr>
          <p:cNvPr id="306" name="Google Shape;306;p34"/>
          <p:cNvSpPr txBox="1"/>
          <p:nvPr>
            <p:ph idx="1" type="body"/>
          </p:nvPr>
        </p:nvSpPr>
        <p:spPr>
          <a:xfrm>
            <a:off x="838200" y="139128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What is a Scatter Plot?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Show relationship between two numeric variables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Detect correlation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Identify clusters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Detect outliers</a:t>
            </a:r>
            <a:endParaRPr/>
          </a:p>
        </p:txBody>
      </p:sp>
      <p:sp>
        <p:nvSpPr>
          <p:cNvPr id="307" name="Google Shape;307;p34"/>
          <p:cNvSpPr txBox="1"/>
          <p:nvPr/>
        </p:nvSpPr>
        <p:spPr>
          <a:xfrm>
            <a:off x="5756910" y="3120390"/>
            <a:ext cx="5086350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 u="sng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Basic Syntax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plt.scatter(x, 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/>
          <p:nvPr>
            <p:ph type="title"/>
          </p:nvPr>
        </p:nvSpPr>
        <p:spPr>
          <a:xfrm>
            <a:off x="838200" y="365126"/>
            <a:ext cx="8168640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313" name="Google Shape;313;p35"/>
          <p:cNvSpPr txBox="1"/>
          <p:nvPr>
            <p:ph idx="1" type="body"/>
          </p:nvPr>
        </p:nvSpPr>
        <p:spPr>
          <a:xfrm>
            <a:off x="232410" y="15097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x = [1, 2, 3, 4, 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y = [10, 20, 15, 25, 30]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plt.scatter(x, y)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314" name="Google Shape;31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9780" y="2079308"/>
            <a:ext cx="529590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6"/>
          <p:cNvSpPr txBox="1"/>
          <p:nvPr>
            <p:ph idx="1" type="body"/>
          </p:nvPr>
        </p:nvSpPr>
        <p:spPr>
          <a:xfrm>
            <a:off x="575310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20" name="Google Shape;320;p36"/>
          <p:cNvGraphicFramePr/>
          <p:nvPr/>
        </p:nvGraphicFramePr>
        <p:xfrm>
          <a:off x="154306" y="37801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{41969148-3B69-4D59-B2D2-107B8CB91B88}</a:tableStyleId>
              </a:tblPr>
              <a:tblGrid>
                <a:gridCol w="50120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→ Size of Points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Controls marker size.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plt.scatter(x, y, s=100)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represents area, NOT radius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Larger number → larger dots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21" name="Google Shape;321;p36"/>
          <p:cNvSpPr txBox="1"/>
          <p:nvPr/>
        </p:nvSpPr>
        <p:spPr>
          <a:xfrm>
            <a:off x="76591" y="955040"/>
            <a:ext cx="609790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[1, 2, 3, 4, 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[10, 20, 15, 25, 30]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sizes = [50, 100, 200, 300, 150]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plt.scatter(x, y, s=sizes)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322" name="Google Shape;3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775" y="1066165"/>
            <a:ext cx="6361919" cy="472567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6"/>
          <p:cNvSpPr txBox="1"/>
          <p:nvPr/>
        </p:nvSpPr>
        <p:spPr>
          <a:xfrm>
            <a:off x="154306" y="142647"/>
            <a:ext cx="61093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Size of Points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 txBox="1"/>
          <p:nvPr>
            <p:ph type="title"/>
          </p:nvPr>
        </p:nvSpPr>
        <p:spPr>
          <a:xfrm>
            <a:off x="632460" y="205106"/>
            <a:ext cx="8328660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c → Color</a:t>
            </a:r>
            <a:endParaRPr/>
          </a:p>
        </p:txBody>
      </p:sp>
      <p:sp>
        <p:nvSpPr>
          <p:cNvPr id="329" name="Google Shape;329;p37"/>
          <p:cNvSpPr txBox="1"/>
          <p:nvPr>
            <p:ph idx="1" type="body"/>
          </p:nvPr>
        </p:nvSpPr>
        <p:spPr>
          <a:xfrm>
            <a:off x="358140" y="957579"/>
            <a:ext cx="10515600" cy="5695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plt.scatter(x, y, c='blue’)    </a:t>
            </a:r>
            <a:r>
              <a:rPr lang="en-IN" sz="26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#Single color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600"/>
              <a:buNone/>
            </a:pPr>
            <a:r>
              <a:rPr lang="en-IN" sz="2600" u="sng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# List of colors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colors = ['red', 'blue', 'green', 'purple', 'orange’]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plt.scatter(x, y, c=colors)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600"/>
              <a:buNone/>
            </a:pPr>
            <a:r>
              <a:rPr lang="en-IN" sz="2600" u="sng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#Numeric values (for colormap)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values = [1, 2, 3, 4, 5]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plt.scatter(x, y, c=values)</a:t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8"/>
          <p:cNvSpPr txBox="1"/>
          <p:nvPr>
            <p:ph type="title"/>
          </p:nvPr>
        </p:nvSpPr>
        <p:spPr>
          <a:xfrm>
            <a:off x="0" y="170815"/>
            <a:ext cx="2007870" cy="9607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335" name="Google Shape;335;p38"/>
          <p:cNvSpPr txBox="1"/>
          <p:nvPr/>
        </p:nvSpPr>
        <p:spPr>
          <a:xfrm>
            <a:off x="5835315" y="1550280"/>
            <a:ext cx="6087979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[1, 2, 3, 4, 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[10, 20, 15, 25, 30]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sizes = [50, 100, 200, 300, 150]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colors = ['red', 'blue', 'green', 'purple', 'orange']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plt.scatter(x, y,s=sizes,c=colors)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336" name="Google Shape;33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237" y="1462087"/>
            <a:ext cx="529590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>
            <p:ph type="title"/>
          </p:nvPr>
        </p:nvSpPr>
        <p:spPr>
          <a:xfrm>
            <a:off x="838200" y="166052"/>
            <a:ext cx="9140190" cy="514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sp>
        <p:nvSpPr>
          <p:cNvPr id="342" name="Google Shape;342;p39"/>
          <p:cNvSpPr txBox="1"/>
          <p:nvPr/>
        </p:nvSpPr>
        <p:spPr>
          <a:xfrm>
            <a:off x="838200" y="1269364"/>
            <a:ext cx="10923269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np.random.rand(50)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np.random.rand(50)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sizes = 1000 * np.random.rand(50)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colors = np.random.rand(50)</a:t>
            </a: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plt.scatter(x, y, s=sizes, c=colors, cmap='viridis', alpha=0.6)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plt.colorbar()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plt.title("Advanced Scatter Plot")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plt.xlabel("X values")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plt.ylabel("Y values")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953" y="507683"/>
            <a:ext cx="7279957" cy="6100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/>
          <p:nvPr>
            <p:ph type="title"/>
          </p:nvPr>
        </p:nvSpPr>
        <p:spPr>
          <a:xfrm>
            <a:off x="838200" y="365126"/>
            <a:ext cx="9677400" cy="315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en-IN" sz="3600"/>
              <a:t>Method Explanations</a:t>
            </a:r>
            <a:endParaRPr/>
          </a:p>
        </p:txBody>
      </p:sp>
      <p:graphicFrame>
        <p:nvGraphicFramePr>
          <p:cNvPr id="353" name="Google Shape;353;p41"/>
          <p:cNvGraphicFramePr/>
          <p:nvPr/>
        </p:nvGraphicFramePr>
        <p:xfrm>
          <a:off x="838200" y="1432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3928100"/>
                <a:gridCol w="6823700"/>
              </a:tblGrid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b="1"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Snippet</a:t>
                      </a:r>
                      <a:endParaRPr sz="2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b="1"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Explanation</a:t>
                      </a:r>
                      <a:endParaRPr sz="2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plt.plot(x, y)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a line plot. You can customize it with markers, line styles, and colors.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plt.scatter(x, y)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a scatter plot with customizable point sizes and colors.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plt.bar(x, height)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a vertical bar chart.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plt.hist(data, bins)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a histogram to show the distribution of data using specified bins.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8" name="Google Shape;358;p42"/>
          <p:cNvGraphicFramePr/>
          <p:nvPr/>
        </p:nvGraphicFramePr>
        <p:xfrm>
          <a:off x="462915" y="7054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5015875"/>
                <a:gridCol w="6250300"/>
              </a:tblGrid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plt.xlabel() / plt.ylabel()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Sets labels for the x-axis and y-axis.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plt.title()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Sets the title of the plot.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plt.legend()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Displays a legend for labeled plot elements.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plt.grid()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Adds grid lines to improve readability.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3" name="Google Shape;363;p43"/>
          <p:cNvGraphicFramePr/>
          <p:nvPr/>
        </p:nvGraphicFramePr>
        <p:xfrm>
          <a:off x="462915" y="79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5015875"/>
                <a:gridCol w="6250300"/>
              </a:tblGrid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plt.figure(figsize=(w, h))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a new figure with a specified size (width and height in inches).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plt.tight_layout()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Automatically adjusts subplot spacing for a cleaner layout.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plt.savefig("filename")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Saves the current figure to a file (e.g., PNG, JPG, PDF, SVG).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plt.twinx()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Creates a second y-axis that shares the same x-axis.</a:t>
                      </a:r>
                      <a:endParaRPr/>
                    </a:p>
                  </a:txBody>
                  <a:tcPr marT="29800" marB="29800" marR="59600" marL="5960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44"/>
          <p:cNvSpPr txBox="1"/>
          <p:nvPr>
            <p:ph type="title"/>
          </p:nvPr>
        </p:nvSpPr>
        <p:spPr>
          <a:xfrm>
            <a:off x="838200" y="365125"/>
            <a:ext cx="9460230" cy="6407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IN"/>
              <a:t>Matplotlib Bars</a:t>
            </a:r>
            <a:br>
              <a:rPr b="1" lang="en-IN"/>
            </a:br>
            <a:endParaRPr/>
          </a:p>
        </p:txBody>
      </p:sp>
      <p:sp>
        <p:nvSpPr>
          <p:cNvPr id="369" name="Google Shape;369;p44"/>
          <p:cNvSpPr txBox="1"/>
          <p:nvPr>
            <p:ph idx="1" type="body"/>
          </p:nvPr>
        </p:nvSpPr>
        <p:spPr>
          <a:xfrm>
            <a:off x="838200" y="1223010"/>
            <a:ext cx="10515600" cy="49539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With Pyplot, we can use the bar() function to draw bar graphs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0" name="Google Shape;370;p44"/>
          <p:cNvSpPr txBox="1"/>
          <p:nvPr/>
        </p:nvSpPr>
        <p:spPr>
          <a:xfrm>
            <a:off x="397193" y="2545824"/>
            <a:ext cx="609790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plt.bar(x,y)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71" name="Google Shape;37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939925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5"/>
          <p:cNvSpPr txBox="1"/>
          <p:nvPr>
            <p:ph idx="1" type="body"/>
          </p:nvPr>
        </p:nvSpPr>
        <p:spPr>
          <a:xfrm>
            <a:off x="838200" y="377190"/>
            <a:ext cx="10515600" cy="5799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bar() function takes arguments that describes the layout of the bars.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The categories and their values represented by the first and second argument as arrays.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7" name="Google Shape;377;p45"/>
          <p:cNvSpPr txBox="1"/>
          <p:nvPr/>
        </p:nvSpPr>
        <p:spPr>
          <a:xfrm>
            <a:off x="317183" y="2720608"/>
            <a:ext cx="609790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["APPLES", "BANANAS"]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[400, 350]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plt.bar(x, 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378" name="Google Shape;37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5989" y="2097305"/>
            <a:ext cx="5858827" cy="4383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/>
          <p:nvPr>
            <p:ph idx="1" type="body"/>
          </p:nvPr>
        </p:nvSpPr>
        <p:spPr>
          <a:xfrm>
            <a:off x="838200" y="285750"/>
            <a:ext cx="10515600" cy="589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IN" sz="2600">
                <a:latin typeface="Times New Roman"/>
                <a:ea typeface="Times New Roman"/>
                <a:cs typeface="Times New Roman"/>
                <a:sym typeface="Times New Roman"/>
              </a:rPr>
              <a:t>Horizontal Bars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If you want the bars to be displayed horizontally instead of vertically, use the barh() function: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84" name="Google Shape;384;p46"/>
          <p:cNvSpPr txBox="1"/>
          <p:nvPr/>
        </p:nvSpPr>
        <p:spPr>
          <a:xfrm>
            <a:off x="488633" y="2366278"/>
            <a:ext cx="6097904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plt.barh(x, y)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5" name="Google Shape;3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17469" y="2125772"/>
            <a:ext cx="5105400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7"/>
          <p:cNvSpPr txBox="1"/>
          <p:nvPr>
            <p:ph idx="1" type="body"/>
          </p:nvPr>
        </p:nvSpPr>
        <p:spPr>
          <a:xfrm>
            <a:off x="838200" y="285750"/>
            <a:ext cx="10515600" cy="5891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IN" sz="2600">
                <a:latin typeface="Times New Roman"/>
                <a:ea typeface="Times New Roman"/>
                <a:cs typeface="Times New Roman"/>
                <a:sym typeface="Times New Roman"/>
              </a:rPr>
              <a:t>Bar Color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The bar() and barh() take the keyword argument color to set the color of the bars: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91" name="Google Shape;391;p47"/>
          <p:cNvSpPr txBox="1"/>
          <p:nvPr/>
        </p:nvSpPr>
        <p:spPr>
          <a:xfrm>
            <a:off x="88582" y="2253883"/>
            <a:ext cx="6517957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plt.bar(x, y, color =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2" name="Google Shape;39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24013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8"/>
          <p:cNvSpPr txBox="1"/>
          <p:nvPr>
            <p:ph type="title"/>
          </p:nvPr>
        </p:nvSpPr>
        <p:spPr>
          <a:xfrm>
            <a:off x="838200" y="365125"/>
            <a:ext cx="9345930" cy="5835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IN"/>
              <a:t>Color Names</a:t>
            </a:r>
            <a:br>
              <a:rPr b="1" lang="en-IN"/>
            </a:br>
            <a:endParaRPr/>
          </a:p>
        </p:txBody>
      </p:sp>
      <p:sp>
        <p:nvSpPr>
          <p:cNvPr id="398" name="Google Shape;398;p48"/>
          <p:cNvSpPr txBox="1"/>
          <p:nvPr/>
        </p:nvSpPr>
        <p:spPr>
          <a:xfrm>
            <a:off x="374333" y="1652806"/>
            <a:ext cx="6097904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plt.bar(x, y, color =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"hotpink"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9" name="Google Shape;39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8410" y="1511875"/>
            <a:ext cx="586359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 txBox="1"/>
          <p:nvPr>
            <p:ph idx="1" type="body"/>
          </p:nvPr>
        </p:nvSpPr>
        <p:spPr>
          <a:xfrm>
            <a:off x="838200" y="308610"/>
            <a:ext cx="10515600" cy="58683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IN" sz="2600">
                <a:latin typeface="Times New Roman"/>
                <a:ea typeface="Times New Roman"/>
                <a:cs typeface="Times New Roman"/>
                <a:sym typeface="Times New Roman"/>
              </a:rPr>
              <a:t>Bar Width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The bar() takes the keyword argument width to set the width of the bars: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05" name="Google Shape;405;p49"/>
          <p:cNvSpPr txBox="1"/>
          <p:nvPr/>
        </p:nvSpPr>
        <p:spPr>
          <a:xfrm>
            <a:off x="134303" y="2000518"/>
            <a:ext cx="6097904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plt.bar(x, y, width =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06" name="Google Shape;40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9470" y="2137410"/>
            <a:ext cx="5907254" cy="44119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0"/>
          <p:cNvSpPr txBox="1"/>
          <p:nvPr>
            <p:ph idx="1" type="body"/>
          </p:nvPr>
        </p:nvSpPr>
        <p:spPr>
          <a:xfrm>
            <a:off x="838200" y="422910"/>
            <a:ext cx="10515600" cy="5754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IN" sz="2600">
                <a:latin typeface="Times New Roman"/>
                <a:ea typeface="Times New Roman"/>
                <a:cs typeface="Times New Roman"/>
                <a:sym typeface="Times New Roman"/>
              </a:rPr>
              <a:t>Bar Height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The barh() takes the keyword argument height to set the height of the bars: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412" name="Google Shape;412;p50"/>
          <p:cNvSpPr txBox="1"/>
          <p:nvPr/>
        </p:nvSpPr>
        <p:spPr>
          <a:xfrm>
            <a:off x="202883" y="2145774"/>
            <a:ext cx="6097904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"D"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plt.barh(x, y, height =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13" name="Google Shape;41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3117" y="2305050"/>
            <a:ext cx="60960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" name="Google Shape;418;p51"/>
          <p:cNvGraphicFramePr/>
          <p:nvPr/>
        </p:nvGraphicFramePr>
        <p:xfrm>
          <a:off x="838200" y="4122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4522475"/>
                <a:gridCol w="440055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b="1"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Chart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b="1"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Thickness Parameter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plt.bar() (vertical)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width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plt.barh() (horizontal)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height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2"/>
          <p:cNvSpPr txBox="1"/>
          <p:nvPr>
            <p:ph type="title"/>
          </p:nvPr>
        </p:nvSpPr>
        <p:spPr>
          <a:xfrm>
            <a:off x="838200" y="365125"/>
            <a:ext cx="9814560" cy="6521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IN"/>
              <a:t>Matplotlib Histograms</a:t>
            </a:r>
            <a:br>
              <a:rPr b="1" lang="en-IN"/>
            </a:br>
            <a:endParaRPr/>
          </a:p>
        </p:txBody>
      </p:sp>
      <p:sp>
        <p:nvSpPr>
          <p:cNvPr id="424" name="Google Shape;424;p52"/>
          <p:cNvSpPr txBox="1"/>
          <p:nvPr>
            <p:ph idx="1" type="body"/>
          </p:nvPr>
        </p:nvSpPr>
        <p:spPr>
          <a:xfrm>
            <a:off x="838200" y="1314450"/>
            <a:ext cx="10515600" cy="4862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A histogram is a graph showing </a:t>
            </a:r>
            <a:r>
              <a:rPr i="1" lang="en-IN" sz="2600">
                <a:latin typeface="Times New Roman"/>
                <a:ea typeface="Times New Roman"/>
                <a:cs typeface="Times New Roman"/>
                <a:sym typeface="Times New Roman"/>
              </a:rPr>
              <a:t>frequency</a:t>
            </a: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 distributions. Or A histogram shows the distribution of numerical data by grouping values into ranges (bins).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It is a graph showing the number of observations within each given interval.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In Matplotlib, we use the </a:t>
            </a:r>
            <a:r>
              <a:rPr lang="en-IN"/>
              <a:t>hist()</a:t>
            </a:r>
            <a:r>
              <a:rPr lang="en-IN" sz="2400"/>
              <a:t> function to create histograms.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The </a:t>
            </a:r>
            <a:r>
              <a:rPr lang="en-IN"/>
              <a:t>hist()</a:t>
            </a:r>
            <a:r>
              <a:rPr lang="en-IN" sz="2400"/>
              <a:t> function will use an array of numbers to create a histogram, the array is sent into the function as an argument.</a:t>
            </a:r>
            <a:endParaRPr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8762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sz="2400"/>
              <a:t>The </a:t>
            </a:r>
            <a:r>
              <a:rPr lang="en-IN"/>
              <a:t>hist()</a:t>
            </a:r>
            <a:r>
              <a:rPr lang="en-IN" sz="2400"/>
              <a:t> function will read the array and produce a histogram: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25" name="Google Shape;425;p52"/>
          <p:cNvSpPr txBox="1"/>
          <p:nvPr/>
        </p:nvSpPr>
        <p:spPr>
          <a:xfrm>
            <a:off x="986790" y="3839554"/>
            <a:ext cx="1003173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b="0"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b="0"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np.random.normal(170, 10, 250)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nsolas"/>
              <a:buNone/>
            </a:pPr>
            <a:r>
              <a:rPr b="0" lang="en-IN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print(x) 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3"/>
          <p:cNvSpPr txBox="1"/>
          <p:nvPr/>
        </p:nvSpPr>
        <p:spPr>
          <a:xfrm>
            <a:off x="134302" y="264498"/>
            <a:ext cx="7615237" cy="20928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6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np.random.normal(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170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6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plt.hist(x)</a:t>
            </a:r>
            <a:b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 </a:t>
            </a:r>
            <a:endParaRPr sz="2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31" name="Google Shape;4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4443" y="1746229"/>
            <a:ext cx="6373049" cy="4847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54"/>
          <p:cNvSpPr txBox="1"/>
          <p:nvPr>
            <p:ph type="title"/>
          </p:nvPr>
        </p:nvSpPr>
        <p:spPr>
          <a:xfrm>
            <a:off x="838200" y="182245"/>
            <a:ext cx="9345930" cy="400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IN"/>
              <a:t>Example</a:t>
            </a:r>
            <a:endParaRPr/>
          </a:p>
        </p:txBody>
      </p:sp>
      <p:pic>
        <p:nvPicPr>
          <p:cNvPr id="437" name="Google Shape;437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313" y="1040711"/>
            <a:ext cx="6325937" cy="5157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8395" y="1593533"/>
            <a:ext cx="535305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55"/>
          <p:cNvSpPr txBox="1"/>
          <p:nvPr>
            <p:ph idx="1" type="body"/>
          </p:nvPr>
        </p:nvSpPr>
        <p:spPr>
          <a:xfrm>
            <a:off x="838200" y="537210"/>
            <a:ext cx="10515600" cy="56397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b="1" lang="en-IN" sz="2600" u="sng">
                <a:latin typeface="Times New Roman"/>
                <a:ea typeface="Times New Roman"/>
                <a:cs typeface="Times New Roman"/>
                <a:sym typeface="Times New Roman"/>
              </a:rPr>
              <a:t>Basic Syntax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IN" sz="2600">
                <a:latin typeface="Consolas"/>
                <a:ea typeface="Consolas"/>
                <a:cs typeface="Consolas"/>
                <a:sym typeface="Consolas"/>
              </a:rPr>
              <a:t>plt.hist(data, bins)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data → Numeric dataset (list or array)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bins → Number of intervals (or specific bin edges)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6"/>
          <p:cNvSpPr txBox="1"/>
          <p:nvPr/>
        </p:nvSpPr>
        <p:spPr>
          <a:xfrm>
            <a:off x="157163" y="221259"/>
            <a:ext cx="6097904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= [2, 4, 5, 7, 8,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10, 12, 13, 15, 17,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18, 20, 22, 24, 25,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    27, 29, 30, 32, 35]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plt.hist(data, bins=10, edgecolor="black")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plt.title("Histogram with 5 Bins")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sp>
        <p:nvSpPr>
          <p:cNvPr id="449" name="Google Shape;449;p56"/>
          <p:cNvSpPr txBox="1"/>
          <p:nvPr/>
        </p:nvSpPr>
        <p:spPr>
          <a:xfrm>
            <a:off x="726758" y="3953709"/>
            <a:ext cx="6097904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bins are approximately: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– 8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– 15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– 22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 – 29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 – 35</a:t>
            </a:r>
            <a:endParaRPr/>
          </a:p>
        </p:txBody>
      </p:sp>
      <p:sp>
        <p:nvSpPr>
          <p:cNvPr id="450" name="Google Shape;450;p56"/>
          <p:cNvSpPr txBox="1"/>
          <p:nvPr/>
        </p:nvSpPr>
        <p:spPr>
          <a:xfrm>
            <a:off x="6094096" y="4784705"/>
            <a:ext cx="609790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the bins are divided: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Range = 35 − 2 = 33</a:t>
            </a:r>
            <a:b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 ÷ 5 ≈ 6.6 per bin</a:t>
            </a:r>
            <a:endParaRPr/>
          </a:p>
        </p:txBody>
      </p:sp>
      <p:sp>
        <p:nvSpPr>
          <p:cNvPr id="451" name="Google Shape;451;p56"/>
          <p:cNvSpPr txBox="1"/>
          <p:nvPr/>
        </p:nvSpPr>
        <p:spPr>
          <a:xfrm>
            <a:off x="6094096" y="6208831"/>
            <a:ext cx="609790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Fewer bins = wider bars = less detail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2" name="Google Shape;45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5067" y="187504"/>
            <a:ext cx="508635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7997" y="850444"/>
            <a:ext cx="5086350" cy="414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57"/>
          <p:cNvSpPr txBox="1"/>
          <p:nvPr/>
        </p:nvSpPr>
        <p:spPr>
          <a:xfrm>
            <a:off x="-1904" y="696228"/>
            <a:ext cx="6097904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Approximate bins: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2–8</a:t>
            </a: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values: 2, 4, 5, 7, 8 → </a:t>
            </a:r>
            <a:r>
              <a:rPr b="1" lang="en-IN" sz="2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5 values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8–15</a:t>
            </a: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10, 12, 13, 15 → </a:t>
            </a:r>
            <a:r>
              <a:rPr b="1" lang="en-IN" sz="2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4 values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15–22</a:t>
            </a: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17, 18, 20, 22 → </a:t>
            </a:r>
            <a:r>
              <a:rPr b="1" lang="en-IN" sz="2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4 values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22–29</a:t>
            </a: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24, 25, 27, 29 → </a:t>
            </a:r>
            <a:r>
              <a:rPr b="1" lang="en-IN" sz="2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4 values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29–35</a:t>
            </a:r>
            <a:r>
              <a:rPr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→ 30, 32, 35 → </a:t>
            </a:r>
            <a:r>
              <a:rPr b="1" lang="en-IN" sz="24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3 values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672" y="717232"/>
            <a:ext cx="52101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2690" y="717232"/>
            <a:ext cx="52959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9"/>
          <p:cNvSpPr txBox="1"/>
          <p:nvPr/>
        </p:nvSpPr>
        <p:spPr>
          <a:xfrm>
            <a:off x="168592" y="242720"/>
            <a:ext cx="7809547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Generate random data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= np.random.normal(170, 10, 250)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 Create histogram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plt.hist(data, bins=40)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plt.xlabel("Value")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plt.ylabel("Frequency")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plt.title("Histogram Example")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onsolas"/>
              <a:buNone/>
            </a:pPr>
            <a:r>
              <a:rPr b="0" lang="en-IN" sz="2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470" name="Google Shape;47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1700" y="2169210"/>
            <a:ext cx="5486400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5" name="Google Shape;475;p60"/>
          <p:cNvGraphicFramePr/>
          <p:nvPr/>
        </p:nvGraphicFramePr>
        <p:xfrm>
          <a:off x="632460" y="8351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{FF3AB62A-6C0E-45D0-962E-3FD9C66E40AD}</a:tableStyleId>
              </a:tblPr>
              <a:tblGrid>
                <a:gridCol w="5257800"/>
                <a:gridCol w="5257800"/>
              </a:tblGrid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b="1"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Parameter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b="1"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bins=20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Number of bars (intervals)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color="blue"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Bar color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edgecolor="black"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Border color of bars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alpha=0.5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Transparency (0–1)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density=True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Shows probability density instead of frequency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range=(min, max)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600"/>
                        <a:buFont typeface="Consolas"/>
                        <a:buNone/>
                      </a:pPr>
                      <a:r>
                        <a:rPr lang="en-IN" sz="2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Limits the data range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1"/>
          <p:cNvSpPr txBox="1"/>
          <p:nvPr/>
        </p:nvSpPr>
        <p:spPr>
          <a:xfrm>
            <a:off x="274320" y="333137"/>
            <a:ext cx="11109960" cy="65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data =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30, 35, 40, 42, 45, 47, 48, 49,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50, 50, 51, 52, 53, 55, 57, 60,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62, 65, 70, 75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plt.figure(figsize=(8, 5))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plt.hist(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data,bins=5,color="blue",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edgecolor="black",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alpha=0.5,density=True,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    range=(30, 80)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plt.xlabel("Value")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plt.ylabel("Density")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plt.title("Histogram Without Random Data")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plt.grid(True)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plt.tight_layout()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nsolas"/>
              <a:buNone/>
            </a:pPr>
            <a:r>
              <a:rPr b="0" lang="en-IN" sz="2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964" y="672464"/>
            <a:ext cx="9051199" cy="5614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3"/>
          <p:cNvSpPr txBox="1"/>
          <p:nvPr>
            <p:ph type="title"/>
          </p:nvPr>
        </p:nvSpPr>
        <p:spPr>
          <a:xfrm>
            <a:off x="426720" y="365125"/>
            <a:ext cx="9711690" cy="4692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IN"/>
              <a:t>Matplotlib Subplot</a:t>
            </a:r>
            <a:br>
              <a:rPr b="1" lang="en-IN"/>
            </a:br>
            <a:endParaRPr/>
          </a:p>
        </p:txBody>
      </p:sp>
      <p:sp>
        <p:nvSpPr>
          <p:cNvPr id="491" name="Google Shape;491;p63"/>
          <p:cNvSpPr txBox="1"/>
          <p:nvPr/>
        </p:nvSpPr>
        <p:spPr>
          <a:xfrm>
            <a:off x="525780" y="834390"/>
            <a:ext cx="88011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Multiple Plots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the subplot() function you can draw multiple plots in one figure:</a:t>
            </a:r>
            <a:endParaRPr/>
          </a:p>
        </p:txBody>
      </p:sp>
      <p:sp>
        <p:nvSpPr>
          <p:cNvPr id="492" name="Google Shape;492;p63"/>
          <p:cNvSpPr txBox="1"/>
          <p:nvPr/>
        </p:nvSpPr>
        <p:spPr>
          <a:xfrm>
            <a:off x="525779" y="1951672"/>
            <a:ext cx="1125526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subplot() function takes three arguments that describes the layout of the figure.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layout is organized in rows and columns, which are represented by the </a:t>
            </a:r>
            <a:r>
              <a:rPr i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i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argument.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third argument represents the index of the current plot.</a:t>
            </a:r>
            <a:endParaRPr/>
          </a:p>
        </p:txBody>
      </p:sp>
      <p:pic>
        <p:nvPicPr>
          <p:cNvPr id="493" name="Google Shape;49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195" y="3807617"/>
            <a:ext cx="10660430" cy="1107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195" y="5293980"/>
            <a:ext cx="10672264" cy="99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4"/>
          <p:cNvSpPr txBox="1"/>
          <p:nvPr/>
        </p:nvSpPr>
        <p:spPr>
          <a:xfrm>
            <a:off x="260033" y="231563"/>
            <a:ext cx="6097904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matplotlib.pyplot as plt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import numpy as np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#plot 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x = np.array([0, 1, 2, 3])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np.array([3, 8, 1, 10])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plt.subplot(1, 2, 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#plot 2:x = np.array([0, 1, 2, 3])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y = np.array([10, 20, 30, 40])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plt.subplot(1, 2, 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None/>
            </a:pPr>
            <a:r>
              <a:rPr b="0" lang="en-I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/>
          </a:p>
        </p:txBody>
      </p:sp>
      <p:pic>
        <p:nvPicPr>
          <p:cNvPr id="500" name="Google Shape;50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023" y="1265471"/>
            <a:ext cx="5172075" cy="3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5"/>
          <p:cNvSpPr txBox="1"/>
          <p:nvPr>
            <p:ph idx="1" type="body"/>
          </p:nvPr>
        </p:nvSpPr>
        <p:spPr>
          <a:xfrm>
            <a:off x="323850" y="2254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Draw 2 plots on top of each other:</a:t>
            </a:r>
            <a:endParaRPr/>
          </a:p>
        </p:txBody>
      </p:sp>
      <p:sp>
        <p:nvSpPr>
          <p:cNvPr id="506" name="Google Shape;506;p65"/>
          <p:cNvSpPr txBox="1"/>
          <p:nvPr/>
        </p:nvSpPr>
        <p:spPr>
          <a:xfrm>
            <a:off x="1197293" y="764114"/>
            <a:ext cx="6097904" cy="6001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4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>#plot 1:</a:t>
            </a:r>
            <a:br>
              <a:rPr lang="en-IN" sz="240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  <a:t>#plot 2:</a:t>
            </a:r>
            <a:br>
              <a:rPr lang="en-IN" sz="2400">
                <a:solidFill>
                  <a:srgbClr val="70809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4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4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1243" y="593408"/>
            <a:ext cx="6914049" cy="525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7"/>
          <p:cNvSpPr txBox="1"/>
          <p:nvPr/>
        </p:nvSpPr>
        <p:spPr>
          <a:xfrm>
            <a:off x="202883" y="0"/>
            <a:ext cx="6097904" cy="7694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en-IN" sz="22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plt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en-IN" sz="22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np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-I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67"/>
          <p:cNvSpPr txBox="1"/>
          <p:nvPr/>
        </p:nvSpPr>
        <p:spPr>
          <a:xfrm>
            <a:off x="6449377" y="56138"/>
            <a:ext cx="6097904" cy="6801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x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y = np.array([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plt.subplot(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IN" sz="2200">
                <a:solidFill>
                  <a:srgbClr val="990055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plt.plot(x,y)</a:t>
            </a: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N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plt.show() </a:t>
            </a:r>
            <a:endParaRPr sz="2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5543" y="650558"/>
            <a:ext cx="7379912" cy="5613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2026-02-23T03:37:05Z</dcterms:created>
  <dc:creator>PRABHURAJ METIPATIL</dc:creator>
</cp:coreProperties>
</file>