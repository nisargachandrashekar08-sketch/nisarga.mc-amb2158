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2000"/>
  <p:notesSz cx="6858000" cy="9144000"/>
  <p:embeddedFontLst>
    <p:embeddedFont>
      <p:font typeface="Play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mdt3VchTsx6KChHHpBaMVmtU7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Play-bold.fntdata"/><Relationship Id="rId16" Type="http://schemas.openxmlformats.org/officeDocument/2006/relationships/slide" Target="slides/slide12.xml"/><Relationship Id="rId38" Type="http://schemas.openxmlformats.org/officeDocument/2006/relationships/font" Target="fonts/Play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w3schools.com/python/pandas/default.asp" TargetMode="External"/><Relationship Id="rId4" Type="http://schemas.openxmlformats.org/officeDocument/2006/relationships/hyperlink" Target="https://www.w3schools.com/python/numpy_intro.asp" TargetMode="External"/><Relationship Id="rId5" Type="http://schemas.openxmlformats.org/officeDocument/2006/relationships/hyperlink" Target="https://www.w3schools.com/python/matplotlib_intro.asp" TargetMode="External"/><Relationship Id="rId6" Type="http://schemas.openxmlformats.org/officeDocument/2006/relationships/hyperlink" Target="https://www.w3schools.com/python/scipy_intro.as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5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Relationship Id="rId5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Data Science Libraries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Python is a programming language widely used by </a:t>
            </a: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Data Scientists.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Python has </a:t>
            </a: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in-built mathematical libraries and functions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, making it easier to calculate mathematical problems and to perform data analysis.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Python has libraries with large collections of mathematical functions and analytical tools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Python Libraries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Python has libraries with large collections of mathematical functions and analytical tools.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b="1" lang="en-IN" sz="3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Pandas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 - This library is used for structured data operations, like import CSV files, create dataframes, and data preparation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b="1" lang="en-IN" sz="3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NumPy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 - This is a mathematical library. Has a powerful N-dimensional array object, linear algebra, Fourier transform, etc.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b="1" lang="en-IN" sz="3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Matplotlib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 - This library is used for visualization of data.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b="1" lang="en-IN" sz="3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SciPy</a:t>
            </a:r>
            <a:r>
              <a:rPr lang="en-IN" sz="3000">
                <a:latin typeface="Times New Roman"/>
                <a:ea typeface="Times New Roman"/>
                <a:cs typeface="Times New Roman"/>
                <a:sym typeface="Times New Roman"/>
              </a:rPr>
              <a:t> - This library has linear algebra modules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Pandas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What is Pandas?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Pandas is a Python library used for working with data sets.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It has functions for analyzing, cleaning, exploring, and manipulating data.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The name "Pandas" has a reference to both "Panel Data", and "Python Data Analysis" and was created by Wes McKinney in 2008.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Pandas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Why Use Pandas?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Pandas allows us to analyze big data and make conclusions based on statistical theories.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Pandas can clean messy data sets and make them readable and relevant.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Relevant data is very important in data science.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What Can Pandas Do?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428750"/>
            <a:ext cx="10515600" cy="4748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Read Data from Many Sources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Store Data in Tables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Clean Data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Filter and Select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Sort and Arrange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Perform Calculations &amp; Statistics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Group Data (Split–Apply–Combine)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Merge and Join Tables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Time Series Analysis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Prepare Data for Machine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Quick Visualization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0" y="-1"/>
            <a:ext cx="11766176" cy="2061837"/>
          </a:xfrm>
          <a:custGeom>
            <a:rect b="b" l="l" r="r" t="t"/>
            <a:pathLst>
              <a:path extrusionOk="0" h="1978172" w="10768629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/>
          <p:nvPr>
            <p:ph type="title"/>
          </p:nvPr>
        </p:nvSpPr>
        <p:spPr>
          <a:xfrm>
            <a:off x="965584" y="64529"/>
            <a:ext cx="9392421" cy="1330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523680" y="1695442"/>
            <a:ext cx="6082860" cy="3917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import pandas as pd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mydataset =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  'cars': ["BMW", "Volvo", "Ford"],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  'passings': [3, 7, 2]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myvar = pd.DataFrame(mydataset)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print(myvar)</a:t>
            </a:r>
            <a:endParaRPr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4915" y="2655323"/>
            <a:ext cx="4788505" cy="280178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 rot="10800000">
            <a:off x="5381624" y="6209414"/>
            <a:ext cx="6810375" cy="648586"/>
          </a:xfrm>
          <a:custGeom>
            <a:rect b="b" l="l" r="r" t="t"/>
            <a:pathLst>
              <a:path extrusionOk="0" h="1027260" w="10753706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Pandas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838200" y="134381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IN" sz="2600">
                <a:latin typeface="Times New Roman"/>
                <a:ea typeface="Times New Roman"/>
                <a:cs typeface="Times New Roman"/>
                <a:sym typeface="Times New Roman"/>
              </a:rPr>
              <a:t>Pandas as pd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Pandas is usually imported under the pd alias.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1" lang="en-IN" sz="2600">
                <a:latin typeface="Times New Roman"/>
                <a:ea typeface="Times New Roman"/>
                <a:cs typeface="Times New Roman"/>
                <a:sym typeface="Times New Roman"/>
              </a:rPr>
              <a:t>alias:</a:t>
            </a: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 In Python alias are an alternate name for referring to the same thing.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600"/>
              <a:buChar char="•"/>
            </a:pPr>
            <a:r>
              <a:rPr lang="en-IN" sz="2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import pandas as pd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Checking Pandas Version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The version string is stored under __version__ attribute.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851782"/>
            <a:ext cx="4319399" cy="132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9958" y="5228416"/>
            <a:ext cx="1816762" cy="10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IN"/>
              <a:t>Pandas Series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 Pandas Series is like a column in a table.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It is a one-dimensional array holding data of any type.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350" y="3283706"/>
            <a:ext cx="3477640" cy="2568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5805" y="3283706"/>
            <a:ext cx="2786413" cy="2372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Series</a:t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Labels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If nothing else is specified, the values are labeled with their index number. First value has index 0, second value has index 1 etc.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This label can be used to access a specified value.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Return the first value of the Series: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print(myvar[0])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Series</a:t>
            </a:r>
            <a:endParaRPr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Create Labels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With the index argument, you can name your own labels.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360" y="3188451"/>
            <a:ext cx="7006280" cy="27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9529" y="3449002"/>
            <a:ext cx="2921557" cy="2334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Series</a:t>
            </a:r>
            <a:endParaRPr/>
          </a:p>
        </p:txBody>
      </p:sp>
      <p:pic>
        <p:nvPicPr>
          <p:cNvPr id="155" name="Google Shape;15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5949999" cy="226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2800" y="1815436"/>
            <a:ext cx="2695610" cy="2240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Iterating through a Pandas Series</a:t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Iterate over </a:t>
            </a:r>
            <a:r>
              <a:rPr b="1" lang="en-IN"/>
              <a:t>values only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486622"/>
            <a:ext cx="5257800" cy="3151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0832" y="2508203"/>
            <a:ext cx="1144337" cy="221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Iterate over </a:t>
            </a:r>
            <a:r>
              <a:rPr b="1" lang="en-IN"/>
              <a:t>index and value</a:t>
            </a:r>
            <a:endParaRPr/>
          </a:p>
        </p:txBody>
      </p:sp>
      <p:pic>
        <p:nvPicPr>
          <p:cNvPr id="170" name="Google Shape;170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4455786" cy="101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4150" y="1463464"/>
            <a:ext cx="1123950" cy="212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" y="4147650"/>
            <a:ext cx="7958385" cy="23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10623" y="4229713"/>
            <a:ext cx="2519183" cy="206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iterate over </a:t>
            </a:r>
            <a:r>
              <a:rPr b="1" lang="en-IN"/>
              <a:t>index + value</a:t>
            </a:r>
            <a:endParaRPr/>
          </a:p>
        </p:txBody>
      </p:sp>
      <p:pic>
        <p:nvPicPr>
          <p:cNvPr id="179" name="Google Shape;179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72456"/>
            <a:ext cx="5556921" cy="121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0136" y="1557482"/>
            <a:ext cx="1205244" cy="1631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4"/>
          <p:cNvSpPr txBox="1"/>
          <p:nvPr/>
        </p:nvSpPr>
        <p:spPr>
          <a:xfrm>
            <a:off x="838200" y="3669031"/>
            <a:ext cx="60979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Iterate over only the labels (index)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211" y="4610756"/>
            <a:ext cx="4507030" cy="13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 txBox="1"/>
          <p:nvPr/>
        </p:nvSpPr>
        <p:spPr>
          <a:xfrm>
            <a:off x="6672263" y="3669031"/>
            <a:ext cx="39804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Iterate over only the values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2668" y="4569112"/>
            <a:ext cx="3935267" cy="1325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Series</a:t>
            </a:r>
            <a:endParaRPr/>
          </a:p>
        </p:txBody>
      </p:sp>
      <p:sp>
        <p:nvSpPr>
          <p:cNvPr id="190" name="Google Shape;190;p15"/>
          <p:cNvSpPr txBox="1"/>
          <p:nvPr>
            <p:ph idx="1" type="body"/>
          </p:nvPr>
        </p:nvSpPr>
        <p:spPr>
          <a:xfrm>
            <a:off x="586740" y="188277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Avoid assuming numeric positions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If index is character-based: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Because Pandas treats 0 as a </a:t>
            </a:r>
            <a:r>
              <a:rPr b="1" lang="en-IN"/>
              <a:t>label</a:t>
            </a:r>
            <a:r>
              <a:rPr lang="en-IN"/>
              <a:t>, not position.</a:t>
            </a:r>
            <a:endParaRPr/>
          </a:p>
        </p:txBody>
      </p:sp>
      <p:pic>
        <p:nvPicPr>
          <p:cNvPr id="191" name="Google Shape;1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053" y="3181337"/>
            <a:ext cx="1278267" cy="72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 txBox="1"/>
          <p:nvPr/>
        </p:nvSpPr>
        <p:spPr>
          <a:xfrm>
            <a:off x="3726180" y="3327142"/>
            <a:ext cx="334899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#KeyError or wrong result</a:t>
            </a:r>
            <a:endParaRPr/>
          </a:p>
        </p:txBody>
      </p:sp>
      <p:pic>
        <p:nvPicPr>
          <p:cNvPr id="193" name="Google Shape;19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9659" y="5309855"/>
            <a:ext cx="4807893" cy="1116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b="1" lang="en-IN"/>
            </a:br>
            <a:r>
              <a:rPr b="1" lang="en-IN"/>
              <a:t>Key/Value Objects as Series</a:t>
            </a:r>
            <a:br>
              <a:rPr b="1" lang="en-IN"/>
            </a:br>
            <a:endParaRPr/>
          </a:p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You can also use a key/value object, like a dictionary, when creating a Series.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Create a simple Pandas Series from a dictionary:</a:t>
            </a:r>
            <a:endParaRPr/>
          </a:p>
        </p:txBody>
      </p:sp>
      <p:pic>
        <p:nvPicPr>
          <p:cNvPr id="200" name="Google Shape;2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854" y="3739473"/>
            <a:ext cx="6767620" cy="2437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6373" y="4001293"/>
            <a:ext cx="2782833" cy="2175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/>
          <p:nvPr>
            <p:ph type="title"/>
          </p:nvPr>
        </p:nvSpPr>
        <p:spPr>
          <a:xfrm>
            <a:off x="838200" y="9024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b="1" lang="en-IN"/>
            </a:br>
            <a:r>
              <a:rPr b="1" lang="en-IN"/>
              <a:t>Pandas DataFrames</a:t>
            </a:r>
            <a:br>
              <a:rPr b="1" lang="en-IN"/>
            </a:br>
            <a:endParaRPr/>
          </a:p>
        </p:txBody>
      </p:sp>
      <p:sp>
        <p:nvSpPr>
          <p:cNvPr id="207" name="Google Shape;207;p17"/>
          <p:cNvSpPr txBox="1"/>
          <p:nvPr>
            <p:ph idx="1" type="body"/>
          </p:nvPr>
        </p:nvSpPr>
        <p:spPr>
          <a:xfrm>
            <a:off x="75819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 Pandas DataFrame is a 2-dimensional data structure, like a 2-dimensional array, or a table with rows and columns.</a:t>
            </a:r>
            <a:endParaRPr/>
          </a:p>
        </p:txBody>
      </p:sp>
      <p:pic>
        <p:nvPicPr>
          <p:cNvPr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000" y="2233543"/>
            <a:ext cx="5413149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4239" y="3429000"/>
            <a:ext cx="3616037" cy="1988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b="1" lang="en-IN"/>
            </a:br>
            <a:r>
              <a:rPr b="1" lang="en-IN"/>
              <a:t>Locate Row</a:t>
            </a:r>
            <a:br>
              <a:rPr b="1" lang="en-IN"/>
            </a:br>
            <a:endParaRPr/>
          </a:p>
        </p:txBody>
      </p:sp>
      <p:sp>
        <p:nvSpPr>
          <p:cNvPr id="215" name="Google Shape;21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As DataFrame is like a table with rows and columns, pandas use the loc attribute to return one or more specified row(s)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16" name="Google Shape;2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354" y="3136885"/>
            <a:ext cx="3225633" cy="6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8964" y="2934007"/>
            <a:ext cx="2749051" cy="989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564" y="4843751"/>
            <a:ext cx="4147910" cy="989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88964" y="4829138"/>
            <a:ext cx="3229165" cy="13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>
            <p:ph type="title"/>
          </p:nvPr>
        </p:nvSpPr>
        <p:spPr>
          <a:xfrm>
            <a:off x="838200" y="1250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b="1" lang="en-IN"/>
            </a:br>
            <a:r>
              <a:rPr b="1" lang="en-IN"/>
              <a:t>Named Indexes</a:t>
            </a:r>
            <a:br>
              <a:rPr b="1" lang="en-IN"/>
            </a:br>
            <a:endParaRPr/>
          </a:p>
        </p:txBody>
      </p:sp>
      <p:sp>
        <p:nvSpPr>
          <p:cNvPr id="225" name="Google Shape;225;p19"/>
          <p:cNvSpPr txBox="1"/>
          <p:nvPr>
            <p:ph idx="1" type="body"/>
          </p:nvPr>
        </p:nvSpPr>
        <p:spPr>
          <a:xfrm>
            <a:off x="838200" y="13684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With the index argument, you can name your own indexes.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Add a list of names to give each row a name:</a:t>
            </a:r>
            <a:endParaRPr/>
          </a:p>
        </p:txBody>
      </p:sp>
      <p:pic>
        <p:nvPicPr>
          <p:cNvPr id="226" name="Google Shape;2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519" y="2568258"/>
            <a:ext cx="7936743" cy="372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4154" y="3010506"/>
            <a:ext cx="3807659" cy="1790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b="1" lang="en-IN"/>
            </a:br>
            <a:r>
              <a:rPr b="1" lang="en-IN"/>
              <a:t>Locate Named Indexes</a:t>
            </a:r>
            <a:br>
              <a:rPr b="1" lang="en-IN"/>
            </a:br>
            <a:endParaRPr/>
          </a:p>
        </p:txBody>
      </p:sp>
      <p:sp>
        <p:nvSpPr>
          <p:cNvPr id="233" name="Google Shape;233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Use the named index in the loc attribute to return the specified row(s). </a:t>
            </a:r>
            <a:endParaRPr/>
          </a:p>
        </p:txBody>
      </p:sp>
      <p:pic>
        <p:nvPicPr>
          <p:cNvPr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988937"/>
            <a:ext cx="4131105" cy="611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5642" y="2630127"/>
            <a:ext cx="3668457" cy="1287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Different ways of creating dataframes</a:t>
            </a:r>
            <a:endParaRPr/>
          </a:p>
        </p:txBody>
      </p:sp>
      <p:sp>
        <p:nvSpPr>
          <p:cNvPr id="241" name="Google Shape;24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From a dictionary of lists (most common)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From a list of lists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From a list of dictionaries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From a dictionary of Series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Create an empty DataFrame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Create DataFrame using zip()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>
            <p:ph type="title"/>
          </p:nvPr>
        </p:nvSpPr>
        <p:spPr>
          <a:xfrm>
            <a:off x="838200" y="908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From a dictionary of lists (most common)</a:t>
            </a:r>
            <a:endParaRPr/>
          </a:p>
        </p:txBody>
      </p:sp>
      <p:pic>
        <p:nvPicPr>
          <p:cNvPr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" y="1890346"/>
            <a:ext cx="6650204" cy="356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8191" y="2642475"/>
            <a:ext cx="4011423" cy="18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From a list of lists</a:t>
            </a:r>
            <a:endParaRPr/>
          </a:p>
        </p:txBody>
      </p:sp>
      <p:pic>
        <p:nvPicPr>
          <p:cNvPr id="254" name="Google Shape;2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455" y="1836364"/>
            <a:ext cx="7245753" cy="36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2139" y="2569832"/>
            <a:ext cx="3976406" cy="1718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From a list of dictionaries</a:t>
            </a:r>
            <a:endParaRPr/>
          </a:p>
        </p:txBody>
      </p:sp>
      <p:pic>
        <p:nvPicPr>
          <p:cNvPr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817" y="2140843"/>
            <a:ext cx="7970865" cy="29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6338" y="2908816"/>
            <a:ext cx="3634608" cy="132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From a dictionary of Series</a:t>
            </a:r>
            <a:endParaRPr/>
          </a:p>
        </p:txBody>
      </p:sp>
      <p:pic>
        <p:nvPicPr>
          <p:cNvPr id="268" name="Google Shape;2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420" y="2289764"/>
            <a:ext cx="7848147" cy="3550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528" y="2595220"/>
            <a:ext cx="3190832" cy="2007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>
            <p:ph type="title"/>
          </p:nvPr>
        </p:nvSpPr>
        <p:spPr>
          <a:xfrm>
            <a:off x="28193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b="1" lang="en-IN"/>
            </a:br>
            <a:r>
              <a:rPr b="1" lang="en-IN"/>
              <a:t>Pandas Read CSV</a:t>
            </a:r>
            <a:br>
              <a:rPr b="1" lang="en-IN"/>
            </a:br>
            <a:endParaRPr/>
          </a:p>
        </p:txBody>
      </p:sp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38" y="1320860"/>
            <a:ext cx="4950596" cy="1795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5064" y="299641"/>
            <a:ext cx="6104996" cy="4517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765" y="3841249"/>
            <a:ext cx="5679299" cy="255070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7266623" y="5050458"/>
            <a:ext cx="60979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truncated display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>
            <p:ph type="title"/>
          </p:nvPr>
        </p:nvSpPr>
        <p:spPr>
          <a:xfrm>
            <a:off x="838200" y="1250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IN"/>
              <a:t>Pandas Read CSV</a:t>
            </a:r>
            <a:endParaRPr/>
          </a:p>
        </p:txBody>
      </p:sp>
      <p:pic>
        <p:nvPicPr>
          <p:cNvPr id="284" name="Google Shape;2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74" y="2057998"/>
            <a:ext cx="6023426" cy="226253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6432233" y="2202865"/>
            <a:ext cx="4014787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prints the </a:t>
            </a:r>
            <a:r>
              <a:rPr b="1" lang="en-IN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entire DataFrame</a:t>
            </a:r>
            <a:r>
              <a:rPr lang="en-IN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row by row, without truncation.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1885950" y="5072735"/>
            <a:ext cx="946785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to_string() converts the whole DataFrame into one long formatted string.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When NOT to use to_string()</a:t>
            </a:r>
            <a:endParaRPr/>
          </a:p>
        </p:txBody>
      </p:sp>
      <p:sp>
        <p:nvSpPr>
          <p:cNvPr id="292" name="Google Shape;292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If your DataFrame has: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thousands of rows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or many columns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to_string() will flood your console and make it slow/unreadable.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Best practice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1551622" y="2091958"/>
            <a:ext cx="6529387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pandas as pd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df = pd.read_csv('data.csv')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print(type(df))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print(df.shape)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print(df.head())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print(df.tail())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print(df.describe())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780" y="1706811"/>
            <a:ext cx="7063739" cy="457129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1723073" y="661154"/>
            <a:ext cx="60979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440" y="1013454"/>
            <a:ext cx="8514802" cy="43815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1"/>
          <p:cNvSpPr txBox="1"/>
          <p:nvPr/>
        </p:nvSpPr>
        <p:spPr>
          <a:xfrm>
            <a:off x="614363" y="352544"/>
            <a:ext cx="609790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print(type(df))</a:t>
            </a:r>
            <a:endParaRPr/>
          </a:p>
        </p:txBody>
      </p:sp>
      <p:pic>
        <p:nvPicPr>
          <p:cNvPr id="311" name="Google Shape;31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440" y="2377156"/>
            <a:ext cx="1424003" cy="43815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1"/>
          <p:cNvSpPr txBox="1"/>
          <p:nvPr/>
        </p:nvSpPr>
        <p:spPr>
          <a:xfrm>
            <a:off x="614363" y="1770534"/>
            <a:ext cx="609790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print(df.shape)</a:t>
            </a:r>
            <a:endParaRPr/>
          </a:p>
        </p:txBody>
      </p:sp>
      <p:sp>
        <p:nvSpPr>
          <p:cNvPr id="313" name="Google Shape;313;p31"/>
          <p:cNvSpPr txBox="1"/>
          <p:nvPr/>
        </p:nvSpPr>
        <p:spPr>
          <a:xfrm>
            <a:off x="614363" y="3059668"/>
            <a:ext cx="609790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print(df.head())</a:t>
            </a:r>
            <a:endParaRPr/>
          </a:p>
        </p:txBody>
      </p:sp>
      <p:pic>
        <p:nvPicPr>
          <p:cNvPr id="314" name="Google Shape;31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440" y="3897597"/>
            <a:ext cx="6272340" cy="2046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 txBox="1"/>
          <p:nvPr/>
        </p:nvSpPr>
        <p:spPr>
          <a:xfrm>
            <a:off x="762953" y="741164"/>
            <a:ext cx="60979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print(df.tail())</a:t>
            </a:r>
            <a:endParaRPr/>
          </a:p>
        </p:txBody>
      </p:sp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652" y="1936080"/>
            <a:ext cx="6959870" cy="232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928" y="1878912"/>
            <a:ext cx="11028925" cy="4053257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 txBox="1"/>
          <p:nvPr/>
        </p:nvSpPr>
        <p:spPr>
          <a:xfrm>
            <a:off x="813928" y="925831"/>
            <a:ext cx="60979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print(df.describe())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2026-01-28T05:41:45Z</dcterms:created>
  <dc:creator>PRABHURAJ METIPATIL</dc:creator>
</cp:coreProperties>
</file>