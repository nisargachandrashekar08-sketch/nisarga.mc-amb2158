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9" r:id="rId53"/>
    <p:sldId id="308" r:id="rId54"/>
    <p:sldId id="311" r:id="rId55"/>
    <p:sldId id="310" r:id="rId56"/>
    <p:sldId id="314" r:id="rId57"/>
    <p:sldId id="316" r:id="rId58"/>
    <p:sldId id="315" r:id="rId59"/>
    <p:sldId id="313" r:id="rId60"/>
    <p:sldId id="312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91E1F-1EBF-FE7B-8106-E5FC5A39A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9BD2C-E24E-F814-49AA-F8B7E6A6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E9616-2F1B-15A5-F8F6-D9497023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D695C-93FD-2C47-B40A-6957DB27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B9215-830C-C187-A7E0-945A697F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47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C6F2E-DFB3-ACB2-49F3-D82DC3DE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E5098-CD1A-4CBF-D89A-EF9FDD4A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6B584-EC6D-165C-4473-0F2746F93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82749-EE98-58DA-6AD6-2E25B2E4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6FD81-5865-2908-51C1-282A9246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6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1DE5-8FFB-634D-9C59-B80C0156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BB61D-5CE4-66DD-E311-0DE832D9A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38D86-03C8-ACBC-D9B3-7410DB95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6F088-188D-4803-AC2C-A9D96BE1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3F279-5E9D-BD10-F882-DA7AFE3C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25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5F52-BC47-B003-70C3-ACFCFE3B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77D72-66B2-8652-1CF9-43AB05C3C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52107-E166-D3A0-7080-497F20140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55AAA-F982-2D0D-E72A-6918B356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5A567-E29A-B13B-32E5-60BEBA18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570A9-F741-A560-366D-D6A20ABF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2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A172-74F1-D92D-FA92-87975C7B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B7FAD-0E00-61FA-F157-4DFFE768B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13195-E8DC-7AE7-3CB3-32ECDB06E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D053D7-96BE-BB9F-15F1-0BECB6250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6663-3ADE-7AC7-DB47-DF3286439D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D439FC-7D93-B5C4-E0CE-9630308CA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144F7-68C6-7F22-83C8-F2B980D6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34FC2-2E4C-B491-E10A-4753B8C2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62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0F1E8-5115-6F90-954D-5F7515ECF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B68DB-4C4F-3C5B-1F3F-6C795217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B0D18-1055-31C9-076D-66FD42FBD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F59F3-6088-41C5-8F1B-B15B86FD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08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06FDB6-C349-C7EB-26C1-D55682332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68F47F-0887-27C3-0F37-289C27F4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1F7A-19CF-794E-BD10-6FAFCC2D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73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9E7C-0936-A5D4-F917-F2473424F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210D1-DAA0-59E2-045E-81686D749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3FEB3-8CF2-3553-5FC4-AA50DAE80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99612-DB5C-C330-06EA-2C66BBAE0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7C237-4F69-07F3-DA81-E4FFEB360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E7F23-0F24-4ADA-0211-7D5005B7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97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5026-A4F5-1F07-A90B-4189DA40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5C8949-8AD0-CF8F-B9DA-53042DCCC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FFFC6-C9BF-2955-3C99-643508E34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D057F-766C-2840-0DAA-B7593987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A50EA-06BE-561E-11FB-0957CB78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81660-C7D2-8F01-2434-6445B9C3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322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F222B-753B-2A08-2960-FE32A82C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0109F-8989-FFF6-6E42-D35B3A7C2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9C999-DC87-5A43-DB7C-43644251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35E9-B395-9571-B4F1-E30DA7FFE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2A3B2-ACBD-E0AE-CF6F-772874551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93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3E88EF-A6D1-616E-39CE-C85D9FFBB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2BE3F-9FB1-1A4C-DCE3-34CB4B914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0361-B666-DB74-DC44-D686E99BC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1ADE4-5B80-53EE-FCD8-9724CABC2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E8646-3B97-7E76-BD5A-CC4E7212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02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F8E92-F3A2-9188-B03D-30137A413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4EFAA-A1FF-5387-ACD8-CDD7F2F17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0A308-BAE3-8A58-E0BB-F0A94BF1A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01574-DCB5-44DE-B49E-48055DBF28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F994E-FB2C-DE5C-11F3-7E9472F19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A30EE-6EDA-DB99-E118-1A4666668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442A6-9C45-437E-908A-3842F1BA4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69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CAAA-7647-587C-EBA2-360641FF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12"/>
            <a:ext cx="9780270" cy="492125"/>
          </a:xfrm>
        </p:spPr>
        <p:txBody>
          <a:bodyPr>
            <a:normAutofit fontScale="90000"/>
          </a:bodyPr>
          <a:lstStyle/>
          <a:p>
            <a:r>
              <a:rPr lang="en-US"/>
              <a:t>Data Aggregation and Grouping</a:t>
            </a: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48449D-BA1E-F4AF-BDEA-18F908343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629553"/>
              </p:ext>
            </p:extLst>
          </p:nvPr>
        </p:nvGraphicFramePr>
        <p:xfrm>
          <a:off x="365760" y="681037"/>
          <a:ext cx="11681459" cy="600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9195">
                  <a:extLst>
                    <a:ext uri="{9D8B030D-6E8A-4147-A177-3AD203B41FA5}">
                      <a16:colId xmlns:a16="http://schemas.microsoft.com/office/drawing/2014/main" val="791871901"/>
                    </a:ext>
                  </a:extLst>
                </a:gridCol>
                <a:gridCol w="8782264">
                  <a:extLst>
                    <a:ext uri="{9D8B030D-6E8A-4147-A177-3AD203B41FA5}">
                      <a16:colId xmlns:a16="http://schemas.microsoft.com/office/drawing/2014/main" val="502315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.groupby(column)</a:t>
                      </a:r>
                      <a:endParaRPr lang="en-IN" sz="2200" b="1">
                        <a:solidFill>
                          <a:schemeClr val="accent2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Splits data into groups based on column values</a:t>
                      </a:r>
                      <a:endParaRPr lang="en-IN" sz="2200" kern="120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endParaRPr lang="en-IN" sz="22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493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.agg()</a:t>
                      </a:r>
                      <a:endParaRPr lang="en-IN" sz="2200" b="1">
                        <a:solidFill>
                          <a:schemeClr val="accent2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Applies aggregation functions to groups (sum, mean, std, count, min, max)</a:t>
                      </a:r>
                      <a:endParaRPr lang="en-IN" sz="2200" kern="120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endParaRPr lang="en-IN" sz="22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72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.transform()</a:t>
                      </a:r>
                      <a:endParaRPr lang="en-IN" sz="2200" b="1">
                        <a:solidFill>
                          <a:schemeClr val="accent2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Returns series with same shape as input, broadcasting group values</a:t>
                      </a:r>
                      <a:endParaRPr lang="en-IN" sz="2200" kern="120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endParaRPr lang="en-IN" sz="22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667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.filter()</a:t>
                      </a:r>
                      <a:endParaRPr lang="en-IN" sz="2200" b="1">
                        <a:solidFill>
                          <a:schemeClr val="accent2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Selects entire groups based on group-level condition</a:t>
                      </a:r>
                      <a:endParaRPr lang="en-IN" sz="22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720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.apply()</a:t>
                      </a:r>
                      <a:endParaRPr lang="en-IN" sz="2200" b="1">
                        <a:solidFill>
                          <a:schemeClr val="accent2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Applies custom function to each group</a:t>
                      </a:r>
                      <a:endParaRPr lang="en-IN" sz="2200" kern="120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endParaRPr lang="en-IN" sz="22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81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.pivot_table()</a:t>
                      </a:r>
                      <a:endParaRPr lang="en-IN" sz="2200" b="1">
                        <a:solidFill>
                          <a:schemeClr val="accent2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Creates spreadsheet-style pivot table with multi-level indexing</a:t>
                      </a:r>
                      <a:endParaRPr lang="en-IN" sz="2200" kern="120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endParaRPr lang="en-IN" sz="22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07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Multiple aggregations</a:t>
                      </a:r>
                      <a:endParaRPr lang="en-IN" sz="2200" b="1">
                        <a:solidFill>
                          <a:schemeClr val="accent2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Pass list of function names or dict mapping columns to functions</a:t>
                      </a:r>
                      <a:endParaRPr lang="en-IN" sz="22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807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439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9F81-2B69-715A-8E85-253386FC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095"/>
            <a:ext cx="10054590" cy="68643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Consolas" panose="020B0609020204030204" pitchFamily="49" charset="0"/>
              </a:rPr>
              <a:t>Basic grouping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5046D-FA63-96C5-5D1C-CF9BB07E1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840"/>
            <a:ext cx="10515600" cy="51711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en-US">
                <a:latin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</a:rPr>
              <a:t>df.groupby('column')             # Create GroupBy object</a:t>
            </a:r>
            <a:br>
              <a:rPr lang="en-US">
                <a:latin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</a:rPr>
              <a:t>                  </a:t>
            </a:r>
          </a:p>
          <a:p>
            <a:pPr marL="0" indent="0">
              <a:buNone/>
            </a:pPr>
            <a:r>
              <a:rPr lang="en-US">
                <a:solidFill>
                  <a:srgbClr val="C00000"/>
                </a:solidFill>
                <a:latin typeface="Consolas" panose="020B0609020204030204" pitchFamily="49" charset="0"/>
              </a:rPr>
              <a:t># Multiple columns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>
                <a:latin typeface="Consolas" panose="020B0609020204030204" pitchFamily="49" charset="0"/>
              </a:rPr>
              <a:t>df.groupby(['col1', 'col2'])</a:t>
            </a:r>
            <a:br>
              <a:rPr lang="en-US">
                <a:latin typeface="Consolas" panose="020B0609020204030204" pitchFamily="49" charset="0"/>
              </a:rPr>
            </a:br>
            <a:br>
              <a:rPr lang="en-US">
                <a:latin typeface="Consolas" panose="020B0609020204030204" pitchFamily="49" charset="0"/>
              </a:rPr>
            </a:br>
            <a:r>
              <a:rPr lang="en-US">
                <a:solidFill>
                  <a:srgbClr val="C00000"/>
                </a:solidFill>
                <a:latin typeface="Consolas" panose="020B0609020204030204" pitchFamily="49" charset="0"/>
              </a:rPr>
              <a:t># Aggregation functions</a:t>
            </a:r>
          </a:p>
          <a:p>
            <a:pPr marL="0" indent="0">
              <a:buNone/>
            </a:pPr>
            <a:br>
              <a:rPr lang="en-US">
                <a:latin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</a:rPr>
              <a:t>df.groupby('column').sum()      # Sum per group</a:t>
            </a:r>
            <a:br>
              <a:rPr lang="en-US">
                <a:latin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</a:rPr>
              <a:t>df.groupby('column').mean()     # Mean per group</a:t>
            </a:r>
            <a:br>
              <a:rPr lang="en-US">
                <a:latin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</a:rPr>
              <a:t>df.groupby('column').count()    # Count per group</a:t>
            </a:r>
          </a:p>
          <a:p>
            <a:pPr marL="0" indent="0">
              <a:buNone/>
            </a:pPr>
            <a:br>
              <a:rPr lang="en-US">
                <a:latin typeface="Consolas" panose="020B0609020204030204" pitchFamily="49" charset="0"/>
              </a:rPr>
            </a:br>
            <a:r>
              <a:rPr lang="en-US">
                <a:solidFill>
                  <a:srgbClr val="C00000"/>
                </a:solidFill>
                <a:latin typeface="Consolas" panose="020B0609020204030204" pitchFamily="49" charset="0"/>
              </a:rPr>
              <a:t># Multiple aggregations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df.groupby('column').agg(['sum', 'mean', 'std'])</a:t>
            </a:r>
            <a:endParaRPr lang="en-IN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74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2A7D0-02B0-D824-65C9-8629B8375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581120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# Custom aggregations</a:t>
            </a:r>
          </a:p>
          <a:p>
            <a:pPr marL="0" indent="0">
              <a:buNone/>
            </a:pPr>
            <a:br>
              <a:rPr lang="en-US"/>
            </a:br>
            <a:r>
              <a:rPr lang="en-US" sz="2600">
                <a:latin typeface="Consolas" panose="020B0609020204030204" pitchFamily="49" charset="0"/>
              </a:rPr>
              <a:t>df.groupby('column').agg({'col1': 'sum', 'col2': 'mean'})</a:t>
            </a:r>
            <a:br>
              <a:rPr lang="en-US" sz="2600">
                <a:latin typeface="Consolas" panose="020B0609020204030204" pitchFamily="49" charset="0"/>
              </a:rPr>
            </a:br>
            <a:br>
              <a:rPr lang="en-US" sz="2600">
                <a:latin typeface="Consolas" panose="020B0609020204030204" pitchFamily="49" charset="0"/>
              </a:rPr>
            </a:br>
            <a:r>
              <a:rPr lang="en-US" b="1">
                <a:solidFill>
                  <a:srgbClr val="C00000"/>
                </a:solidFill>
              </a:rPr>
              <a:t># Transformations</a:t>
            </a:r>
          </a:p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# Broadcast group mean to all rows</a:t>
            </a:r>
            <a:br>
              <a:rPr lang="en-US"/>
            </a:br>
            <a:br>
              <a:rPr lang="en-US"/>
            </a:br>
            <a:r>
              <a:rPr lang="en-US" sz="2600">
                <a:latin typeface="Consolas" panose="020B0609020204030204" pitchFamily="49" charset="0"/>
              </a:rPr>
              <a:t>df.groupby('column').transform('mean')</a:t>
            </a:r>
            <a:endParaRPr lang="en-IN" sz="2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83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B2D19-D8DF-8117-B8E8-9A6B14CD1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581120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# Filtering groups</a:t>
            </a:r>
          </a:p>
          <a:p>
            <a:pPr marL="0" indent="0">
              <a:buNone/>
            </a:pPr>
            <a:br>
              <a:rPr lang="en-US"/>
            </a:br>
            <a:r>
              <a:rPr lang="en-US" sz="2600">
                <a:latin typeface="Consolas" panose="020B0609020204030204" pitchFamily="49" charset="0"/>
              </a:rPr>
              <a:t>df.groupby('column').filter(lambda x: len(x) &gt; 3)</a:t>
            </a:r>
            <a:br>
              <a:rPr lang="en-US" sz="2600">
                <a:latin typeface="Consolas" panose="020B0609020204030204" pitchFamily="49" charset="0"/>
              </a:rPr>
            </a:br>
            <a:br>
              <a:rPr lang="en-US"/>
            </a:br>
            <a:r>
              <a:rPr lang="en-US" b="1">
                <a:solidFill>
                  <a:srgbClr val="C00000"/>
                </a:solidFill>
              </a:rPr>
              <a:t># Applying custom functions</a:t>
            </a:r>
          </a:p>
          <a:p>
            <a:pPr marL="0" indent="0">
              <a:buNone/>
            </a:pPr>
            <a:br>
              <a:rPr lang="en-US"/>
            </a:br>
            <a:r>
              <a:rPr lang="en-US" sz="2600">
                <a:latin typeface="Consolas" panose="020B0609020204030204" pitchFamily="49" charset="0"/>
              </a:rPr>
              <a:t>df.groupby('column').apply(custom_function)</a:t>
            </a:r>
            <a:br>
              <a:rPr lang="en-US" sz="2600">
                <a:latin typeface="Consolas" panose="020B0609020204030204" pitchFamily="49" charset="0"/>
              </a:rPr>
            </a:br>
            <a:br>
              <a:rPr lang="en-US"/>
            </a:br>
            <a:r>
              <a:rPr lang="en-US" b="1">
                <a:solidFill>
                  <a:srgbClr val="C00000"/>
                </a:solidFill>
              </a:rPr>
              <a:t># Pivot tables</a:t>
            </a:r>
          </a:p>
          <a:p>
            <a:pPr marL="0" indent="0">
              <a:buNone/>
            </a:pPr>
            <a:br>
              <a:rPr lang="en-US"/>
            </a:br>
            <a:r>
              <a:rPr lang="en-US" sz="2600">
                <a:latin typeface="Consolas" panose="020B0609020204030204" pitchFamily="49" charset="0"/>
              </a:rPr>
              <a:t>df.pivot_table(values='value_col', index='row_col', </a:t>
            </a:r>
            <a:br>
              <a:rPr lang="en-US" sz="2600">
                <a:latin typeface="Consolas" panose="020B0609020204030204" pitchFamily="49" charset="0"/>
              </a:rPr>
            </a:br>
            <a:r>
              <a:rPr lang="en-US" sz="2600">
                <a:latin typeface="Consolas" panose="020B0609020204030204" pitchFamily="49" charset="0"/>
              </a:rPr>
              <a:t>               columns='col_col', aggfunc='mean')</a:t>
            </a:r>
            <a:endParaRPr lang="en-IN" sz="26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996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6902-932B-F50B-B2BB-F7662D08B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0260" cy="480695"/>
          </a:xfrm>
        </p:spPr>
        <p:txBody>
          <a:bodyPr>
            <a:normAutofit fontScale="90000"/>
          </a:bodyPr>
          <a:lstStyle/>
          <a:p>
            <a:r>
              <a:rPr lang="en-IN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0D6B4-0E72-BD1F-791F-DE500B039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953" y="1369563"/>
            <a:ext cx="10298551" cy="495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4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52AF6F-94EA-1A08-6E53-0BB608E0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6DBBC-5200-3715-332E-2FDD88A5B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304" y="1675227"/>
            <a:ext cx="856139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04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2DB4-B109-6256-8C08-7026777D2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1660" cy="629285"/>
          </a:xfrm>
        </p:spPr>
        <p:txBody>
          <a:bodyPr>
            <a:normAutofit fontScale="90000"/>
          </a:bodyPr>
          <a:lstStyle/>
          <a:p>
            <a:r>
              <a:rPr lang="en-IN"/>
              <a:t>.groupby()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47139-06DC-3DAD-4597-0E9E54934F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76529"/>
            <a:ext cx="10524035" cy="4980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Splits the DataFrame into groups based on the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values of the columns you specify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Those columns become the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grouping keys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they become the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df.groupby(['Department', 'Experience’])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2400"/>
              <a:t>Pandas creates groups like:</a:t>
            </a:r>
          </a:p>
          <a:p>
            <a:r>
              <a:rPr lang="en-US" sz="2400"/>
              <a:t>(HR, 2)</a:t>
            </a:r>
          </a:p>
          <a:p>
            <a:r>
              <a:rPr lang="en-US" sz="2400"/>
              <a:t>(HR, 7)</a:t>
            </a:r>
          </a:p>
          <a:p>
            <a:r>
              <a:rPr lang="en-US" sz="2400"/>
              <a:t>(Sales, 5)</a:t>
            </a:r>
          </a:p>
          <a:p>
            <a:r>
              <a:rPr lang="en-US" sz="2400"/>
              <a:t>etc.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031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6301-DF14-B5D7-79B2-95EBE896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12"/>
            <a:ext cx="9780270" cy="492125"/>
          </a:xfrm>
        </p:spPr>
        <p:txBody>
          <a:bodyPr>
            <a:normAutofit fontScale="90000"/>
          </a:bodyPr>
          <a:lstStyle/>
          <a:p>
            <a:r>
              <a:rPr lang="en-IN"/>
              <a:t>.sum()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030C7-C5D5-9FC3-1D84-BC37B9020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743"/>
            <a:ext cx="10515600" cy="486251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df.groupby(['Department', 'Experience']).sum()</a:t>
            </a:r>
          </a:p>
          <a:p>
            <a:pPr marL="0" indent="0">
              <a:buNone/>
            </a:pPr>
            <a:endParaRPr lang="en-US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/>
              <a:t>Pandas: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Looks at each group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Applies .sum() to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numeric columns only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Ignores non-numeric columns automatically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3C185-9790-EBEC-2A9B-B7EC6B8ECB0C}"/>
              </a:ext>
            </a:extLst>
          </p:cNvPr>
          <p:cNvSpPr txBox="1"/>
          <p:nvPr/>
        </p:nvSpPr>
        <p:spPr>
          <a:xfrm>
            <a:off x="980122" y="4700320"/>
            <a:ext cx="10678477" cy="89255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by these columns, then perform aggregation on the remaining numeric columns.</a:t>
            </a:r>
            <a:endParaRPr lang="en-IN" sz="2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494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F2E50-B1F3-B4E7-BE27-CF2346C01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df3=df.groupby('Experience').sum()</a:t>
            </a: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print(df3)</a:t>
            </a:r>
          </a:p>
          <a:p>
            <a:pPr marL="0" indent="0">
              <a:buNone/>
            </a:pPr>
            <a:endParaRPr lang="en-US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97227-9940-FE82-34A1-312534E5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302" y="1798277"/>
            <a:ext cx="8880558" cy="453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20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6F615-B644-4A8E-5A8C-5C22864DE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255"/>
            <a:ext cx="9677400" cy="572135"/>
          </a:xfrm>
        </p:spPr>
        <p:txBody>
          <a:bodyPr>
            <a:normAutofit fontScale="90000"/>
          </a:bodyPr>
          <a:lstStyle/>
          <a:p>
            <a:r>
              <a:rPr lang="en-IN"/>
              <a:t>Aggregation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4C8D7-403C-3722-CCCD-9DF8FBF90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498824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df.groupby('Department')['Salary'].sum()</a:t>
            </a:r>
            <a:endParaRPr lang="en-IN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43E60-DA58-BF53-EC88-04D28F828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777" y="2393897"/>
            <a:ext cx="6608503" cy="306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95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4B38C-FA28-C8F2-A4C5-97391A6B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7B6B-C65D-BE79-5CA7-625F0DBA0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12"/>
            <a:ext cx="9780270" cy="492125"/>
          </a:xfrm>
        </p:spPr>
        <p:txBody>
          <a:bodyPr>
            <a:normAutofit fontScale="90000"/>
          </a:bodyPr>
          <a:lstStyle/>
          <a:p>
            <a:r>
              <a:rPr lang="en-IN"/>
              <a:t>.sum()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50EB-F5CA-EF80-AA4D-B96CF95B1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743"/>
            <a:ext cx="10515600" cy="486251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df1=df.groupby(['Department', 'Experience']).sum()</a:t>
            </a: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print(df1)</a:t>
            </a:r>
          </a:p>
          <a:p>
            <a:pPr marL="0" indent="0">
              <a:buNone/>
            </a:pPr>
            <a:endParaRPr lang="en-IN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C1BB9-3BC8-F207-88BB-36B71C419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348" y="2714587"/>
            <a:ext cx="8201645" cy="372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33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815BA-D268-C0BC-46BE-63349B10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AA45F-87CC-32A0-F03E-CB4C5A77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12"/>
            <a:ext cx="9780270" cy="492125"/>
          </a:xfrm>
        </p:spPr>
        <p:txBody>
          <a:bodyPr>
            <a:normAutofit fontScale="90000"/>
          </a:bodyPr>
          <a:lstStyle/>
          <a:p>
            <a:r>
              <a:rPr lang="en-IN"/>
              <a:t>.sum()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A532A-C949-6E68-2312-A51B2B20B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743"/>
            <a:ext cx="10515600" cy="486251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df2=df.groupby('Department').sum()</a:t>
            </a: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print(df2)</a:t>
            </a:r>
            <a:endParaRPr lang="en-IN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17DE32-7C91-B28B-63DC-E4D019B1A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114" y="2419296"/>
            <a:ext cx="9582203" cy="292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79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ADF35-33C6-1A6A-8271-401D512DA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0050"/>
            <a:ext cx="10515600" cy="577691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df5=df.groupby('Department')['Salary'].mean()</a:t>
            </a: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print(df5)</a:t>
            </a:r>
          </a:p>
          <a:p>
            <a:pPr marL="0" indent="0">
              <a:buNone/>
            </a:pPr>
            <a:endParaRPr lang="en-IN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D352D-CF00-5152-0BA4-23B898948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492" y="2336743"/>
            <a:ext cx="7740078" cy="344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4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71816-F8AE-AC4E-B7FC-78F12B16E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1480"/>
            <a:ext cx="10515600" cy="576548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df6=df.groupby('Department')['Employee'].count()</a:t>
            </a: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print(df6)</a:t>
            </a:r>
          </a:p>
          <a:p>
            <a:pPr marL="0" indent="0">
              <a:buNone/>
            </a:pPr>
            <a:endParaRPr lang="en-US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A70BA-8B6C-914C-196A-2B1B5A34D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33" y="2129762"/>
            <a:ext cx="8416873" cy="379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32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9E6A-9239-5719-3C88-65EF6FBB0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202"/>
            <a:ext cx="9185910" cy="457835"/>
          </a:xfrm>
        </p:spPr>
        <p:txBody>
          <a:bodyPr>
            <a:normAutofit fontScale="90000"/>
          </a:bodyPr>
          <a:lstStyle/>
          <a:p>
            <a:r>
              <a:rPr lang="en-IN"/>
              <a:t>Multiple Aggregations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B1BCE-6EFA-DCCA-CD14-B4B4A1F7B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/>
          <a:lstStyle/>
          <a:p>
            <a:pPr marL="0" indent="0">
              <a:buNone/>
            </a:pPr>
            <a:r>
              <a:rPr lang="en-IN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df7=df.groupby('Department')['Salary'].agg(['sum', 'mean', 'std’])</a:t>
            </a:r>
          </a:p>
          <a:p>
            <a:pPr marL="0" indent="0">
              <a:buNone/>
            </a:pPr>
            <a:r>
              <a:rPr lang="en-IN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print(df7)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25254-A99C-6770-B18A-D3B362D79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489" y="2854295"/>
            <a:ext cx="9829022" cy="297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254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03C7-9A5C-27A3-484E-E93083678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28810" cy="617855"/>
          </a:xfrm>
        </p:spPr>
        <p:txBody>
          <a:bodyPr>
            <a:normAutofit fontScale="90000"/>
          </a:bodyPr>
          <a:lstStyle/>
          <a:p>
            <a:r>
              <a:rPr lang="en-IN"/>
              <a:t>Custom Aggregations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1D8ED-F6FF-3EE8-D7B4-E8557A2E2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4988243"/>
          </a:xfrm>
        </p:spPr>
        <p:txBody>
          <a:bodyPr/>
          <a:lstStyle/>
          <a:p>
            <a:pPr marL="0" indent="0">
              <a:buNone/>
            </a:pPr>
            <a:r>
              <a:rPr lang="en-IN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df.groupby('Department').agg({  </a:t>
            </a:r>
          </a:p>
          <a:p>
            <a:pPr marL="0" indent="0">
              <a:buNone/>
            </a:pPr>
            <a:r>
              <a:rPr lang="en-IN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  'Salary': 'sum',    'Experience': 'mean’</a:t>
            </a:r>
          </a:p>
          <a:p>
            <a:pPr marL="0" indent="0">
              <a:buNone/>
            </a:pPr>
            <a:r>
              <a:rPr lang="en-IN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endParaRPr lang="en-IN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C1ED9-41E1-C5C8-75E3-849296F3D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044" y="2799053"/>
            <a:ext cx="8592886" cy="356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63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10FC-F0E8-19A9-D977-5033217A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17430" cy="480695"/>
          </a:xfrm>
        </p:spPr>
        <p:txBody>
          <a:bodyPr>
            <a:normAutofit fontScale="90000"/>
          </a:bodyPr>
          <a:lstStyle/>
          <a:p>
            <a:r>
              <a:rPr lang="en-US"/>
              <a:t>Broadcast Group Mean to Each Row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BD254-EE22-EBF4-C2BC-A2C3859BB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4691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df9=df['Dept_Avg_Salary'] = df.groupby('Department')['Salary'].transform('mean’)</a:t>
            </a:r>
          </a:p>
          <a:p>
            <a:pPr marL="0" indent="0">
              <a:buNone/>
            </a:pPr>
            <a:r>
              <a:rPr lang="en-IN" sz="2600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print(df9)</a:t>
            </a:r>
          </a:p>
          <a:p>
            <a:pPr marL="0" indent="0">
              <a:buNone/>
            </a:pPr>
            <a:endParaRPr lang="en-IN" sz="2600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600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767C8-1E74-E7C5-2ED8-E889DA4EC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96" y="2764111"/>
            <a:ext cx="6940744" cy="3412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AB3A39-0D37-352D-9D72-81390642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501" y="2578056"/>
            <a:ext cx="4475869" cy="327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97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8287A-32E2-BD5C-A175-78DA7B8A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535"/>
            <a:ext cx="9928860" cy="572135"/>
          </a:xfrm>
        </p:spPr>
        <p:txBody>
          <a:bodyPr>
            <a:normAutofit fontScale="90000"/>
          </a:bodyPr>
          <a:lstStyle/>
          <a:p>
            <a:r>
              <a:rPr lang="en-IN"/>
              <a:t>Filtering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F21F-CC15-3907-EC22-860D76363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053"/>
            <a:ext cx="10515600" cy="5136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df1=df.groupby('Department').filter(lambda x: len(x) &gt; 2)</a:t>
            </a:r>
          </a:p>
          <a:p>
            <a:pPr marL="0" indent="0">
              <a:buNone/>
            </a:pPr>
            <a:r>
              <a:rPr lang="en-IN" sz="2600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print(df1)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180B4-3A05-6472-EFCE-3299E99EB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062" y="2686898"/>
            <a:ext cx="8677322" cy="233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02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F573-26BD-5125-333E-23EE9C4A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1760" cy="469265"/>
          </a:xfrm>
        </p:spPr>
        <p:txBody>
          <a:bodyPr>
            <a:normAutofit fontScale="90000"/>
          </a:bodyPr>
          <a:lstStyle/>
          <a:p>
            <a:r>
              <a:rPr lang="en-IN"/>
              <a:t>Pivot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D4D1E-C4C2-E2E4-4045-31CEBA83D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salary by Department and Experience</a:t>
            </a:r>
            <a:endParaRPr lang="en-IN" sz="26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b="1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df.pivot_table(    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values='Salary',    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index='Department',    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columns='Experience',    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aggfunc='mean’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043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71FC-F49D-1A94-29CC-3217C1C8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0600"/>
            <a:ext cx="9780270" cy="617855"/>
          </a:xfrm>
        </p:spPr>
        <p:txBody>
          <a:bodyPr>
            <a:normAutofit fontScale="90000"/>
          </a:bodyPr>
          <a:lstStyle/>
          <a:p>
            <a:r>
              <a:rPr lang="en-US"/>
              <a:t>Matplotlib Basic Plotting</a:t>
            </a:r>
            <a:br>
              <a:rPr lang="en-IN"/>
            </a:b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AAF78-724E-48EF-1EA0-841268D7688D}"/>
              </a:ext>
            </a:extLst>
          </p:cNvPr>
          <p:cNvSpPr txBox="1"/>
          <p:nvPr/>
        </p:nvSpPr>
        <p:spPr>
          <a:xfrm>
            <a:off x="537210" y="1288455"/>
            <a:ext cx="109423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Matplotlib is the foundational plotting library in Python, providing comprehensive tools for creating static, animated, and interactive visualizations</a:t>
            </a: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086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F326-3F83-473F-79AE-7F56EF5D3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77450" cy="492125"/>
          </a:xfrm>
        </p:spPr>
        <p:txBody>
          <a:bodyPr>
            <a:normAutofit fontScale="90000"/>
          </a:bodyPr>
          <a:lstStyle/>
          <a:p>
            <a:r>
              <a:rPr lang="en-IN"/>
              <a:t>Line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1B472-C174-3B5D-C42E-9B1A4482D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 </a:t>
            </a:r>
            <a:r>
              <a:rPr lang="en-US" b="1"/>
              <a:t>line plot</a:t>
            </a:r>
            <a:r>
              <a:rPr lang="en-US"/>
              <a:t> is used to: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Show trends over time</a:t>
            </a:r>
          </a:p>
          <a:p>
            <a:r>
              <a:rPr lang="en-US"/>
              <a:t>Show relationship between two numeric variables</a:t>
            </a:r>
          </a:p>
          <a:p>
            <a:r>
              <a:rPr lang="en-US"/>
              <a:t>Visualize continuous data</a:t>
            </a:r>
          </a:p>
          <a:p>
            <a:r>
              <a:rPr lang="en-US"/>
              <a:t>It connects data points using straight lines.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In Python, we use </a:t>
            </a:r>
            <a:r>
              <a:rPr lang="en-US" b="1"/>
              <a:t>Matplotlib</a:t>
            </a:r>
            <a:r>
              <a:rPr lang="en-US"/>
              <a:t> to create line plots.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060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45258-A43E-DFB1-59C2-2C0BD7F81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8620"/>
            <a:ext cx="10515600" cy="578834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In Python, we use </a:t>
            </a:r>
            <a:r>
              <a:rPr lang="en-US" b="1"/>
              <a:t>Matplotlib</a:t>
            </a:r>
            <a:r>
              <a:rPr lang="en-US"/>
              <a:t> to create line plots.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  <a:latin typeface="Consolas" panose="020B0609020204030204" pitchFamily="49" charset="0"/>
              </a:rPr>
              <a:t>import matplotlib.pyplot as plt</a:t>
            </a:r>
          </a:p>
          <a:p>
            <a:pPr marL="0" indent="0">
              <a:buNone/>
            </a:pPr>
            <a:endParaRPr lang="en-US" b="1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/>
              <a:t>#Basic Syntax of plt.plot()</a:t>
            </a:r>
          </a:p>
          <a:p>
            <a:pPr marL="0" indent="0">
              <a:buNone/>
            </a:pPr>
            <a:endParaRPr lang="en-US" b="1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1">
                <a:solidFill>
                  <a:srgbClr val="C00000"/>
                </a:solidFill>
                <a:latin typeface="Consolas" panose="020B0609020204030204" pitchFamily="49" charset="0"/>
              </a:rPr>
              <a:t>plt.plot(x, y)</a:t>
            </a:r>
          </a:p>
          <a:p>
            <a:pPr marL="0" indent="0">
              <a:buNone/>
            </a:pPr>
            <a:endParaRPr lang="en-IN" b="1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/>
              <a:t>Where:</a:t>
            </a:r>
          </a:p>
          <a:p>
            <a:r>
              <a:rPr lang="en-US"/>
              <a:t>x → values for x-axis</a:t>
            </a:r>
          </a:p>
          <a:p>
            <a:r>
              <a:rPr lang="en-US"/>
              <a:t>y → values for y-axis</a:t>
            </a:r>
          </a:p>
          <a:p>
            <a:pPr marL="0" indent="0">
              <a:buNone/>
            </a:pPr>
            <a:endParaRPr lang="en-IN" b="1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528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CBC9-1A27-EAE9-B7D5-7670233D6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03" y="320040"/>
            <a:ext cx="3842847" cy="30289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400"/>
              <a:t>Example</a:t>
            </a:r>
          </a:p>
          <a:p>
            <a:pPr marL="0" indent="0">
              <a:buNone/>
            </a:pPr>
            <a:endParaRPr lang="en-IN" sz="2400"/>
          </a:p>
          <a:p>
            <a:pPr marL="0" indent="0">
              <a:buNone/>
            </a:pPr>
            <a:r>
              <a:rPr lang="es-ES" sz="2400">
                <a:latin typeface="Consolas" panose="020B0609020204030204" pitchFamily="49" charset="0"/>
              </a:rPr>
              <a:t>x = [1, 2, 3, 4]</a:t>
            </a:r>
          </a:p>
          <a:p>
            <a:pPr marL="0" indent="0">
              <a:buNone/>
            </a:pPr>
            <a:r>
              <a:rPr lang="es-ES" sz="2400">
                <a:latin typeface="Consolas" panose="020B0609020204030204" pitchFamily="49" charset="0"/>
              </a:rPr>
              <a:t>y = [10, 20, 25, 30]</a:t>
            </a:r>
          </a:p>
          <a:p>
            <a:pPr marL="0" indent="0">
              <a:buNone/>
            </a:pPr>
            <a:r>
              <a:rPr lang="es-ES" sz="2400">
                <a:latin typeface="Consolas" panose="020B0609020204030204" pitchFamily="49" charset="0"/>
              </a:rPr>
              <a:t>plt.plot(x, y)</a:t>
            </a:r>
          </a:p>
          <a:p>
            <a:pPr marL="0" indent="0">
              <a:buNone/>
            </a:pPr>
            <a:r>
              <a:rPr lang="es-ES" sz="2400">
                <a:latin typeface="Consolas" panose="020B0609020204030204" pitchFamily="49" charset="0"/>
              </a:rPr>
              <a:t>plt.show()</a:t>
            </a:r>
            <a:endParaRPr lang="en-IN" sz="2400">
              <a:latin typeface="Consolas" panose="020B060902020403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F2989A-5641-900D-A919-65104443F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11034" y="0"/>
            <a:ext cx="6389346" cy="474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E45F2D4-4267-9DF1-A121-B9A106832DC8}"/>
              </a:ext>
            </a:extLst>
          </p:cNvPr>
          <p:cNvSpPr txBox="1"/>
          <p:nvPr/>
        </p:nvSpPr>
        <p:spPr>
          <a:xfrm>
            <a:off x="125730" y="5192776"/>
            <a:ext cx="1167003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z="2400">
                <a:latin typeface="Consolas" panose="020B0609020204030204" pitchFamily="49" charset="0"/>
              </a:rPr>
              <a:t>plt.plot(x, y, marker=None, linestyle=None, color=None, label=None)</a:t>
            </a:r>
          </a:p>
        </p:txBody>
      </p:sp>
    </p:spTree>
    <p:extLst>
      <p:ext uri="{BB962C8B-B14F-4D97-AF65-F5344CB8AC3E}">
        <p14:creationId xmlns:p14="http://schemas.microsoft.com/office/powerpoint/2010/main" val="3746981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CF5C-B869-3469-D3E3-DCCEB03CF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86010" cy="423545"/>
          </a:xfrm>
        </p:spPr>
        <p:txBody>
          <a:bodyPr>
            <a:normAutofit fontScale="90000"/>
          </a:bodyPr>
          <a:lstStyle/>
          <a:p>
            <a:r>
              <a:rPr lang="en-IN"/>
              <a:t>Common Markers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C757F2-2CE8-EA1F-E18A-B620E6A30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3649700"/>
              </p:ext>
            </p:extLst>
          </p:nvPr>
        </p:nvGraphicFramePr>
        <p:xfrm>
          <a:off x="1604010" y="1475264"/>
          <a:ext cx="7014210" cy="4389120"/>
        </p:xfrm>
        <a:graphic>
          <a:graphicData uri="http://schemas.openxmlformats.org/drawingml/2006/table">
            <a:tbl>
              <a:tblPr/>
              <a:tblGrid>
                <a:gridCol w="3179272">
                  <a:extLst>
                    <a:ext uri="{9D8B030D-6E8A-4147-A177-3AD203B41FA5}">
                      <a16:colId xmlns:a16="http://schemas.microsoft.com/office/drawing/2014/main" val="3555464455"/>
                    </a:ext>
                  </a:extLst>
                </a:gridCol>
                <a:gridCol w="3834938">
                  <a:extLst>
                    <a:ext uri="{9D8B030D-6E8A-4147-A177-3AD203B41FA5}">
                      <a16:colId xmlns:a16="http://schemas.microsoft.com/office/drawing/2014/main" val="3830833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Marker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7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'o'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Circle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290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's'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Square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53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'^'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Triangle 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069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'v'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Triangle down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889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'*'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Star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522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'+'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852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'x'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X 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778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'.'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38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245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E9C11C6-840B-1D76-61FA-238CC9A08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2031348"/>
            <a:ext cx="6176010" cy="458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BC4B4D-913F-6435-C5C5-1A183B97514B}"/>
              </a:ext>
            </a:extLst>
          </p:cNvPr>
          <p:cNvSpPr txBox="1"/>
          <p:nvPr/>
        </p:nvSpPr>
        <p:spPr>
          <a:xfrm>
            <a:off x="1334453" y="743423"/>
            <a:ext cx="6097904" cy="312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plt.plot(x, y, marker='*')</a:t>
            </a:r>
          </a:p>
        </p:txBody>
      </p:sp>
    </p:spTree>
    <p:extLst>
      <p:ext uri="{BB962C8B-B14F-4D97-AF65-F5344CB8AC3E}">
        <p14:creationId xmlns:p14="http://schemas.microsoft.com/office/powerpoint/2010/main" val="1087357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1842-83D9-8134-1C3C-D6CB9265F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06000" cy="492125"/>
          </a:xfrm>
        </p:spPr>
        <p:txBody>
          <a:bodyPr>
            <a:normAutofit fontScale="90000"/>
          </a:bodyPr>
          <a:lstStyle/>
          <a:p>
            <a:r>
              <a:rPr lang="en-IN"/>
              <a:t>linestyle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9EAA1-F630-6F2D-360F-4C17B2165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4440"/>
            <a:ext cx="10515600" cy="4942523"/>
          </a:xfrm>
        </p:spPr>
        <p:txBody>
          <a:bodyPr/>
          <a:lstStyle/>
          <a:p>
            <a:r>
              <a:rPr lang="en-US"/>
              <a:t>Controls the style of the line.</a:t>
            </a: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9A0E3A-BF77-735C-9E00-9F1278BC3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103230"/>
              </p:ext>
            </p:extLst>
          </p:nvPr>
        </p:nvGraphicFramePr>
        <p:xfrm>
          <a:off x="6751320" y="320040"/>
          <a:ext cx="4602480" cy="2438400"/>
        </p:xfrm>
        <a:graphic>
          <a:graphicData uri="http://schemas.openxmlformats.org/drawingml/2006/table">
            <a:tbl>
              <a:tblPr/>
              <a:tblGrid>
                <a:gridCol w="2030730">
                  <a:extLst>
                    <a:ext uri="{9D8B030D-6E8A-4147-A177-3AD203B41FA5}">
                      <a16:colId xmlns:a16="http://schemas.microsoft.com/office/drawing/2014/main" val="2584924886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236461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36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'-'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Solid (default)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16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'--'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Dashed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798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'-.'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Dash-dot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745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':'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Dotted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0452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2C3911-2997-F634-05EC-3C22073A6771}"/>
              </a:ext>
            </a:extLst>
          </p:cNvPr>
          <p:cNvSpPr txBox="1"/>
          <p:nvPr/>
        </p:nvSpPr>
        <p:spPr>
          <a:xfrm>
            <a:off x="6003608" y="4033519"/>
            <a:ext cx="609790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>
                <a:latin typeface="Consolas" panose="020B0609020204030204" pitchFamily="49" charset="0"/>
              </a:rPr>
              <a:t>plt.plot(x, y, marker=‘*’, linestyle='--')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9A7E648-0D13-1E8F-7582-FA7B605B0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2559050"/>
            <a:ext cx="52959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946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FD73A-C0AE-EB5F-C557-B5347FD7B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" y="297180"/>
            <a:ext cx="10515600" cy="5879783"/>
          </a:xfrm>
        </p:spPr>
        <p:txBody>
          <a:bodyPr/>
          <a:lstStyle/>
          <a:p>
            <a:pPr marL="0" indent="0">
              <a:buNone/>
            </a:pPr>
            <a:r>
              <a:rPr lang="en-IN" sz="2400">
                <a:latin typeface="Consolas" panose="020B0609020204030204" pitchFamily="49" charset="0"/>
              </a:rPr>
              <a:t>plt.plot(x, y, marker='*', linestyle=":")</a:t>
            </a:r>
          </a:p>
          <a:p>
            <a:pPr marL="0" indent="0">
              <a:buNone/>
            </a:pPr>
            <a:endParaRPr lang="en-IN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940221E-D5C2-3FA4-F410-8FBEB0A0F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955958"/>
            <a:ext cx="5814591" cy="431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D01763-45C5-E1C3-DBF4-80D1502EEC28}"/>
              </a:ext>
            </a:extLst>
          </p:cNvPr>
          <p:cNvSpPr txBox="1"/>
          <p:nvPr/>
        </p:nvSpPr>
        <p:spPr>
          <a:xfrm>
            <a:off x="6678930" y="2493885"/>
            <a:ext cx="70208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plt.plot(x, y, marker='*', linestyle="dotted")</a:t>
            </a:r>
          </a:p>
        </p:txBody>
      </p:sp>
    </p:spTree>
    <p:extLst>
      <p:ext uri="{BB962C8B-B14F-4D97-AF65-F5344CB8AC3E}">
        <p14:creationId xmlns:p14="http://schemas.microsoft.com/office/powerpoint/2010/main" val="1749111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31A9-E95C-72F8-DDE2-6D907ED64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54340" cy="457835"/>
          </a:xfrm>
        </p:spPr>
        <p:txBody>
          <a:bodyPr>
            <a:normAutofit fontScale="90000"/>
          </a:bodyPr>
          <a:lstStyle/>
          <a:p>
            <a:r>
              <a:rPr lang="en-IN"/>
              <a:t>Color (Changes line color)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8855-BB23-1FD2-B57C-46271B06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plt.plot(x, y, marker=“^”,linestyle=“solid”,color='blue')</a:t>
            </a:r>
            <a:endParaRPr lang="en-IN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B04EA0A-8047-BA36-D6F2-270BE7BE0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2049634"/>
            <a:ext cx="5981700" cy="444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9EFF27-7DF0-F1C1-28C9-C3D54475319B}"/>
              </a:ext>
            </a:extLst>
          </p:cNvPr>
          <p:cNvSpPr txBox="1"/>
          <p:nvPr/>
        </p:nvSpPr>
        <p:spPr>
          <a:xfrm>
            <a:off x="7232333" y="2274838"/>
            <a:ext cx="60979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latin typeface="Consolas" panose="020B0609020204030204" pitchFamily="49" charset="0"/>
              </a:rPr>
              <a:t>Common colors: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Consolas" panose="020B0609020204030204" pitchFamily="49" charset="0"/>
              </a:rPr>
              <a:t>'blue'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Consolas" panose="020B0609020204030204" pitchFamily="49" charset="0"/>
              </a:rPr>
              <a:t>'red'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Consolas" panose="020B0609020204030204" pitchFamily="49" charset="0"/>
              </a:rPr>
              <a:t>'green'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Consolas" panose="020B0609020204030204" pitchFamily="49" charset="0"/>
              </a:rPr>
              <a:t>'black'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Consolas" panose="020B0609020204030204" pitchFamily="49" charset="0"/>
              </a:rPr>
              <a:t>'yellow'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Consolas" panose="020B0609020204030204" pitchFamily="49" charset="0"/>
              </a:rPr>
              <a:t>'purple'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Consolas" panose="020B0609020204030204" pitchFamily="49" charset="0"/>
              </a:rPr>
              <a:t>'orange'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E5CD76-C12E-CCC6-253D-3ED95AD0C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5604669"/>
            <a:ext cx="4948791" cy="830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Hex codes: '#FF5733'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RGB tuple: (0.2, 0.5, 0.8)</a:t>
            </a:r>
          </a:p>
        </p:txBody>
      </p:sp>
    </p:spTree>
    <p:extLst>
      <p:ext uri="{BB962C8B-B14F-4D97-AF65-F5344CB8AC3E}">
        <p14:creationId xmlns:p14="http://schemas.microsoft.com/office/powerpoint/2010/main" val="473598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55C3E-A311-7683-7407-0FA4BEC36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03130" cy="675005"/>
          </a:xfrm>
        </p:spPr>
        <p:txBody>
          <a:bodyPr>
            <a:normAutofit fontScale="90000"/>
          </a:bodyPr>
          <a:lstStyle/>
          <a:p>
            <a:r>
              <a:rPr lang="en-IN"/>
              <a:t>Label (Used for legend.)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78D5-F8A4-B003-3521-289A7C894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1106805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#Without plt.legend(), label will not show.</a:t>
            </a:r>
            <a:endParaRPr lang="en-IN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>
                <a:solidFill>
                  <a:srgbClr val="C00000"/>
                </a:solidFill>
              </a:rPr>
              <a:t>plt.plot(x, y, marker='o', linestyle='--', color='#FF5733', label='Data')</a:t>
            </a:r>
          </a:p>
          <a:p>
            <a:pPr marL="0" indent="0">
              <a:buNone/>
            </a:pPr>
            <a:r>
              <a:rPr lang="en-IN">
                <a:solidFill>
                  <a:srgbClr val="C00000"/>
                </a:solidFill>
              </a:rPr>
              <a:t>plt.legend()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2CE1504-4739-D98D-DC50-BAD98A189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169409"/>
            <a:ext cx="6235065" cy="463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612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2208-751F-20BA-BF0B-01A73010E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" y="308610"/>
            <a:ext cx="11635740" cy="5868353"/>
          </a:xfrm>
        </p:spPr>
        <p:txBody>
          <a:bodyPr/>
          <a:lstStyle/>
          <a:p>
            <a:pPr marL="0" indent="0">
              <a:buNone/>
            </a:pPr>
            <a:r>
              <a:rPr lang="en-IN" b="1"/>
              <a:t>Format String Shortcut</a:t>
            </a:r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plt.plot(x, y, marker='o', linestyle='--', color='blue’)</a:t>
            </a:r>
          </a:p>
          <a:p>
            <a:pPr marL="0" indent="0">
              <a:buNone/>
            </a:pPr>
            <a:r>
              <a:rPr lang="en-US" b="1">
                <a:latin typeface="Consolas" panose="020B0609020204030204" pitchFamily="49" charset="0"/>
              </a:rPr>
              <a:t>OR</a:t>
            </a:r>
            <a:endParaRPr lang="en-IN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plt.plot(x, y, 'o--b’)</a:t>
            </a:r>
            <a:r>
              <a:rPr lang="en-IN" b="1"/>
              <a:t>                       marker + linestyle </a:t>
            </a:r>
            <a:endParaRPr lang="es-E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ED511-87D1-7F27-CCD5-530040A4FCDC}"/>
              </a:ext>
            </a:extLst>
          </p:cNvPr>
          <p:cNvSpPr txBox="1"/>
          <p:nvPr/>
        </p:nvSpPr>
        <p:spPr>
          <a:xfrm>
            <a:off x="354330" y="3182778"/>
            <a:ext cx="609790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/>
              <a:t>Format</a:t>
            </a:r>
          </a:p>
          <a:p>
            <a:endParaRPr lang="en-IN" sz="2600" b="1"/>
          </a:p>
          <a:p>
            <a:r>
              <a:rPr lang="en-IN" sz="2600" b="1"/>
              <a:t>marker + linestyle + color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82DDE5-3D8A-99C5-DFDE-2FAC4C6BB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30643"/>
              </p:ext>
            </p:extLst>
          </p:nvPr>
        </p:nvGraphicFramePr>
        <p:xfrm>
          <a:off x="6096000" y="2926874"/>
          <a:ext cx="4293870" cy="2926080"/>
        </p:xfrm>
        <a:graphic>
          <a:graphicData uri="http://schemas.openxmlformats.org/drawingml/2006/table">
            <a:tbl>
              <a:tblPr/>
              <a:tblGrid>
                <a:gridCol w="1630680">
                  <a:extLst>
                    <a:ext uri="{9D8B030D-6E8A-4147-A177-3AD203B41FA5}">
                      <a16:colId xmlns:a16="http://schemas.microsoft.com/office/drawing/2014/main" val="1105463252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599734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707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'r-'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Red solid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0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'g--'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Green dashed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52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'bo'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Blue circles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686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'k:'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Black dotted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263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'r*-'</a:t>
                      </a:r>
                      <a:endParaRPr lang="en-IN" sz="2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Red star solid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121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936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27C45-1510-BBC5-88EB-2E5DB0440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43060" cy="315912"/>
          </a:xfrm>
        </p:spPr>
        <p:txBody>
          <a:bodyPr>
            <a:noAutofit/>
          </a:bodyPr>
          <a:lstStyle/>
          <a:p>
            <a:r>
              <a:rPr lang="en-IN" sz="3600"/>
              <a:t>Plot Multiple 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B97F0-C387-15BE-CF1C-302A2CCA41F5}"/>
              </a:ext>
            </a:extLst>
          </p:cNvPr>
          <p:cNvSpPr txBox="1"/>
          <p:nvPr/>
        </p:nvSpPr>
        <p:spPr>
          <a:xfrm>
            <a:off x="0" y="1876009"/>
            <a:ext cx="609790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import matplotlib.pyplot as plt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x = [1,2, 3, 4]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y1 = [10, 20, 25, 30]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y2 = [40, 50, 60, 70]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plt.plot(x, y1, label='Line 1')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plt.plot(x, y2, label='Line 2')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plt.legend()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plt.show()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730D26B-957C-C64A-75B0-37E087B8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07112"/>
            <a:ext cx="5693937" cy="433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384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4059-0E40-1947-30A2-0ECC1A62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43060" cy="526415"/>
          </a:xfrm>
        </p:spPr>
        <p:txBody>
          <a:bodyPr>
            <a:noAutofit/>
          </a:bodyPr>
          <a:lstStyle/>
          <a:p>
            <a:r>
              <a:rPr lang="en-IN" sz="3600"/>
              <a:t>Adding Titles and Labels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9CC61-7669-7D9D-DDC6-EBEE32DFC82E}"/>
              </a:ext>
            </a:extLst>
          </p:cNvPr>
          <p:cNvSpPr txBox="1"/>
          <p:nvPr/>
        </p:nvSpPr>
        <p:spPr>
          <a:xfrm>
            <a:off x="488632" y="1528495"/>
            <a:ext cx="994695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>
                <a:latin typeface="Consolas" panose="020B0609020204030204" pitchFamily="49" charset="0"/>
              </a:rPr>
              <a:t>plt.plot(x, y)</a:t>
            </a:r>
          </a:p>
          <a:p>
            <a:r>
              <a:rPr lang="en-IN" sz="2600">
                <a:latin typeface="Consolas" panose="020B0609020204030204" pitchFamily="49" charset="0"/>
              </a:rPr>
              <a:t>plt.title("Sales Over Time")</a:t>
            </a:r>
          </a:p>
          <a:p>
            <a:r>
              <a:rPr lang="en-IN" sz="2600">
                <a:latin typeface="Consolas" panose="020B0609020204030204" pitchFamily="49" charset="0"/>
              </a:rPr>
              <a:t>plt.xlabel("Months")</a:t>
            </a:r>
          </a:p>
          <a:p>
            <a:r>
              <a:rPr lang="en-IN" sz="2600">
                <a:latin typeface="Consolas" panose="020B0609020204030204" pitchFamily="49" charset="0"/>
              </a:rPr>
              <a:t>plt.ylabel("Revenue")</a:t>
            </a:r>
          </a:p>
          <a:p>
            <a:r>
              <a:rPr lang="en-IN" sz="2600">
                <a:latin typeface="Consolas" panose="020B0609020204030204" pitchFamily="49" charset="0"/>
              </a:rPr>
              <a:t>plt.show()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38A7D80-A79F-5C9C-8584-B521CF3DC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948" y="1731632"/>
            <a:ext cx="6027420" cy="476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930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5A1F-0E74-E96C-46D0-2DB8C6F0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25096"/>
            <a:ext cx="7928610" cy="315912"/>
          </a:xfrm>
        </p:spPr>
        <p:txBody>
          <a:bodyPr>
            <a:normAutofit fontScale="90000"/>
          </a:bodyPr>
          <a:lstStyle/>
          <a:p>
            <a:r>
              <a:rPr lang="en-IN" sz="3200"/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EA958-B529-0BEF-B8DD-3EE92D52EDFD}"/>
              </a:ext>
            </a:extLst>
          </p:cNvPr>
          <p:cNvSpPr txBox="1"/>
          <p:nvPr/>
        </p:nvSpPr>
        <p:spPr>
          <a:xfrm>
            <a:off x="397193" y="748284"/>
            <a:ext cx="56988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import matplotlib.pyplot as plt</a:t>
            </a:r>
            <a:br>
              <a:rPr lang="en-IN" sz="2400" b="0">
                <a:effectLst/>
                <a:latin typeface="Consolas" panose="020B0609020204030204" pitchFamily="49" charset="0"/>
              </a:rPr>
            </a:br>
            <a:endParaRPr lang="en-IN" sz="2400" b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x = [1, 2, 3, 4, 5]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y = [10, 25, 20, 30, 40]</a:t>
            </a:r>
            <a:br>
              <a:rPr lang="en-IN" sz="2400" b="0">
                <a:effectLst/>
                <a:latin typeface="Consolas" panose="020B0609020204030204" pitchFamily="49" charset="0"/>
              </a:rPr>
            </a:br>
            <a:endParaRPr lang="en-IN" sz="2400" b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plt.plot(x, y, marker='o', linestyle='--', color='blue',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linewidth=2, markersize=8, label='Sales')</a:t>
            </a:r>
            <a:br>
              <a:rPr lang="en-IN" sz="2400" b="0">
                <a:effectLst/>
                <a:latin typeface="Consolas" panose="020B0609020204030204" pitchFamily="49" charset="0"/>
              </a:rPr>
            </a:br>
            <a:endParaRPr lang="en-IN" sz="2400" b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plt.title("Monthly Sales Trend")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plt.xlabel("Month")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plt.ylabel("Sales")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plt.legend()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plt.grid(True)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plt.show()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A189ED7-7A59-F2A2-5FE6-39029A404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25017"/>
            <a:ext cx="5782391" cy="468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1650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DC735-DAD8-EA4A-1D26-CECA9D0D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37420" cy="686435"/>
          </a:xfrm>
        </p:spPr>
        <p:txBody>
          <a:bodyPr>
            <a:normAutofit fontScale="90000"/>
          </a:bodyPr>
          <a:lstStyle/>
          <a:p>
            <a:r>
              <a:rPr lang="en-IN"/>
              <a:t>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979E5-8E6F-0D06-F56C-4D572694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28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Scatter Plot?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Show relationship between two numeric variables</a:t>
            </a:r>
          </a:p>
          <a:p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Detect correlation</a:t>
            </a:r>
          </a:p>
          <a:p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Identify clusters</a:t>
            </a:r>
          </a:p>
          <a:p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Detect outliers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32DB0-5B4C-C002-E21A-A826A749ADE6}"/>
              </a:ext>
            </a:extLst>
          </p:cNvPr>
          <p:cNvSpPr txBox="1"/>
          <p:nvPr/>
        </p:nvSpPr>
        <p:spPr>
          <a:xfrm>
            <a:off x="5756910" y="3120390"/>
            <a:ext cx="50863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u="sng">
                <a:latin typeface="Consolas" panose="020B0609020204030204" pitchFamily="49" charset="0"/>
              </a:rPr>
              <a:t>Basic Syntax</a:t>
            </a:r>
          </a:p>
          <a:p>
            <a:endParaRPr lang="en-IN" sz="2600">
              <a:latin typeface="Consolas" panose="020B0609020204030204" pitchFamily="49" charset="0"/>
            </a:endParaRPr>
          </a:p>
          <a:p>
            <a:r>
              <a:rPr lang="en-US" sz="2600">
                <a:latin typeface="Consolas" panose="020B0609020204030204" pitchFamily="49" charset="0"/>
              </a:rPr>
              <a:t>import matplotlib.pyplot as plt</a:t>
            </a:r>
          </a:p>
          <a:p>
            <a:r>
              <a:rPr lang="en-IN" sz="2600">
                <a:latin typeface="Consolas" panose="020B0609020204030204" pitchFamily="49" charset="0"/>
              </a:rPr>
              <a:t>plt.scatter(x, y)</a:t>
            </a:r>
          </a:p>
          <a:p>
            <a:r>
              <a:rPr lang="en-IN" sz="2600">
                <a:latin typeface="Consolas" panose="020B0609020204030204" pitchFamily="49" charset="0"/>
              </a:rPr>
              <a:t>plt.show()</a:t>
            </a:r>
          </a:p>
        </p:txBody>
      </p:sp>
    </p:spTree>
    <p:extLst>
      <p:ext uri="{BB962C8B-B14F-4D97-AF65-F5344CB8AC3E}">
        <p14:creationId xmlns:p14="http://schemas.microsoft.com/office/powerpoint/2010/main" val="3177212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4004-1E18-E078-48FB-FB791FD3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168640" cy="315912"/>
          </a:xfrm>
        </p:spPr>
        <p:txBody>
          <a:bodyPr>
            <a:normAutofit fontScale="90000"/>
          </a:bodyPr>
          <a:lstStyle/>
          <a:p>
            <a:r>
              <a:rPr lang="en-IN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46199-F20F-89DF-6748-3F3D96F60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410" y="15097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import matplotlib.pyplot as plt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x = [1, 2, 3, 4, 5]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y = [10, 20, 15, 25, 30]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plt.scatter(x, y)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plt.show()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97062D8-DD5B-C5FC-0D9F-3B2D6D4F9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780" y="2079308"/>
            <a:ext cx="52959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029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85D26-AF48-58B6-F4BB-081A68D21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1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6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600">
              <a:latin typeface="Consolas" panose="020B06090202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4E7F93-7B1E-1298-BD4E-85484D0C5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006915"/>
              </p:ext>
            </p:extLst>
          </p:nvPr>
        </p:nvGraphicFramePr>
        <p:xfrm>
          <a:off x="154306" y="3780155"/>
          <a:ext cx="5012054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2054">
                  <a:extLst>
                    <a:ext uri="{9D8B030D-6E8A-4147-A177-3AD203B41FA5}">
                      <a16:colId xmlns:a16="http://schemas.microsoft.com/office/drawing/2014/main" val="4102066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Size of Points</a:t>
                      </a:r>
                    </a:p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Controls marker size.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91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plt.scatter(x, y, s=100)</a:t>
                      </a:r>
                    </a:p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represents area, NOT radius</a:t>
                      </a:r>
                    </a:p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number → larger dots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0233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CCC804-6C28-C96A-A8BE-F4778DFD0661}"/>
              </a:ext>
            </a:extLst>
          </p:cNvPr>
          <p:cNvSpPr txBox="1"/>
          <p:nvPr/>
        </p:nvSpPr>
        <p:spPr>
          <a:xfrm>
            <a:off x="76591" y="955040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import matplotlib.pyplot as plt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x = [1, 2, 3, 4, 5]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y = [10, 20, 15, 25, 30]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sizes = [50, 100, 200, 300, 150]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plt.scatter(x, y, s=sizes)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plt.show()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4D2061B7-E08B-C60D-53D9-A35E06735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775" y="1066165"/>
            <a:ext cx="6361919" cy="472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033E5C-BC34-82FF-7B47-8345AD5BA8A9}"/>
              </a:ext>
            </a:extLst>
          </p:cNvPr>
          <p:cNvSpPr txBox="1"/>
          <p:nvPr/>
        </p:nvSpPr>
        <p:spPr>
          <a:xfrm>
            <a:off x="154306" y="142647"/>
            <a:ext cx="61093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>
                <a:solidFill>
                  <a:srgbClr val="C00000"/>
                </a:solidFill>
              </a:rPr>
              <a:t>Size of Points</a:t>
            </a:r>
          </a:p>
        </p:txBody>
      </p:sp>
    </p:spTree>
    <p:extLst>
      <p:ext uri="{BB962C8B-B14F-4D97-AF65-F5344CB8AC3E}">
        <p14:creationId xmlns:p14="http://schemas.microsoft.com/office/powerpoint/2010/main" val="4080918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AD46-1DCC-DF11-158B-987A4068F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60" y="205106"/>
            <a:ext cx="8328660" cy="315912"/>
          </a:xfrm>
        </p:spPr>
        <p:txBody>
          <a:bodyPr>
            <a:normAutofit fontScale="90000"/>
          </a:bodyPr>
          <a:lstStyle/>
          <a:p>
            <a:r>
              <a:rPr lang="en-IN"/>
              <a:t>c →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F05C8-F37C-FFCD-CBE8-B7079A513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40" y="957579"/>
            <a:ext cx="10515600" cy="5695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>
                <a:latin typeface="Consolas" panose="020B0609020204030204" pitchFamily="49" charset="0"/>
              </a:rPr>
              <a:t>plt.scatter(x, y, c='blue’)    </a:t>
            </a:r>
            <a:r>
              <a:rPr lang="en-US" sz="2600">
                <a:solidFill>
                  <a:srgbClr val="C00000"/>
                </a:solidFill>
                <a:latin typeface="Consolas" panose="020B0609020204030204" pitchFamily="49" charset="0"/>
              </a:rPr>
              <a:t>#</a:t>
            </a:r>
            <a:r>
              <a:rPr lang="en-IN" sz="2600">
                <a:solidFill>
                  <a:srgbClr val="C00000"/>
                </a:solidFill>
                <a:latin typeface="Consolas" panose="020B0609020204030204" pitchFamily="49" charset="0"/>
              </a:rPr>
              <a:t>Single color</a:t>
            </a:r>
          </a:p>
          <a:p>
            <a:pPr marL="0" indent="0">
              <a:buNone/>
            </a:pPr>
            <a:endParaRPr lang="en-IN" sz="26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 u="sng">
                <a:solidFill>
                  <a:srgbClr val="C00000"/>
                </a:solidFill>
                <a:latin typeface="Consolas" panose="020B0609020204030204" pitchFamily="49" charset="0"/>
              </a:rPr>
              <a:t># List of colors</a:t>
            </a:r>
          </a:p>
          <a:p>
            <a:pPr marL="0" indent="0">
              <a:buNone/>
            </a:pPr>
            <a:endParaRPr lang="en-IN" sz="26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colors = ['red', 'blue', 'green', 'purple', 'orange’]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plt.scatter(x, y, c=colors)</a:t>
            </a:r>
          </a:p>
          <a:p>
            <a:pPr marL="0" indent="0">
              <a:buNone/>
            </a:pPr>
            <a:endParaRPr lang="en-IN" sz="26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 u="sng">
                <a:solidFill>
                  <a:srgbClr val="C00000"/>
                </a:solidFill>
                <a:latin typeface="Consolas" panose="020B0609020204030204" pitchFamily="49" charset="0"/>
              </a:rPr>
              <a:t>#Numeric values (for colormap)</a:t>
            </a:r>
          </a:p>
          <a:p>
            <a:pPr marL="0" indent="0">
              <a:buNone/>
            </a:pPr>
            <a:endParaRPr lang="en-IN" sz="26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600">
                <a:latin typeface="Consolas" panose="020B0609020204030204" pitchFamily="49" charset="0"/>
              </a:rPr>
              <a:t>values = [1, 2, 3, 4, 5]</a:t>
            </a:r>
          </a:p>
          <a:p>
            <a:pPr marL="0" indent="0">
              <a:buNone/>
            </a:pPr>
            <a:r>
              <a:rPr lang="fr-FR" sz="2600">
                <a:latin typeface="Consolas" panose="020B0609020204030204" pitchFamily="49" charset="0"/>
              </a:rPr>
              <a:t>plt.scatter(x, y, c=values)</a:t>
            </a:r>
            <a:endParaRPr lang="en-IN" sz="2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5439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D0D7-CEBE-FA19-657D-B793D7AC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815"/>
            <a:ext cx="2007870" cy="960755"/>
          </a:xfrm>
        </p:spPr>
        <p:txBody>
          <a:bodyPr>
            <a:normAutofit fontScale="90000"/>
          </a:bodyPr>
          <a:lstStyle/>
          <a:p>
            <a:r>
              <a:rPr lang="en-IN"/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3BF59-50B5-E8B2-A932-B17C7E548469}"/>
              </a:ext>
            </a:extLst>
          </p:cNvPr>
          <p:cNvSpPr txBox="1"/>
          <p:nvPr/>
        </p:nvSpPr>
        <p:spPr>
          <a:xfrm>
            <a:off x="5835315" y="1550280"/>
            <a:ext cx="60879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import matplotlib.pyplot as plt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x = [1, 2, 3, 4, 5]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y = [10, 20, 15, 25, 30]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sizes = [50, 100, 200, 300, 150]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colors = ['red', 'blue', 'green', 'purple', 'orange']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plt.scatter(x, y,s=sizes,c=colors)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plt.show()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A1CFFE4B-4964-DC0C-5865-A871D4729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7" y="1462087"/>
            <a:ext cx="52959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152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067A8-2A2D-4473-51D1-6EFBEF0B7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052"/>
            <a:ext cx="9140190" cy="514985"/>
          </a:xfrm>
        </p:spPr>
        <p:txBody>
          <a:bodyPr>
            <a:normAutofit fontScale="90000"/>
          </a:bodyPr>
          <a:lstStyle/>
          <a:p>
            <a:r>
              <a:rPr lang="en-IN"/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54F53-9152-4802-41B6-6D43057835A2}"/>
              </a:ext>
            </a:extLst>
          </p:cNvPr>
          <p:cNvSpPr txBox="1"/>
          <p:nvPr/>
        </p:nvSpPr>
        <p:spPr>
          <a:xfrm>
            <a:off x="838200" y="1269364"/>
            <a:ext cx="1092326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import matplotlib.pyplot as plt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import numpy as np</a:t>
            </a:r>
            <a:br>
              <a:rPr lang="en-IN" sz="2400" b="0">
                <a:effectLst/>
                <a:latin typeface="Consolas" panose="020B0609020204030204" pitchFamily="49" charset="0"/>
              </a:rPr>
            </a:br>
            <a:endParaRPr lang="en-IN" sz="2400" b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x = np.random.rand(50)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y = np.random.rand(50)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sizes = 1000 * np.random.rand(50)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colors = np.random.rand(50)</a:t>
            </a:r>
            <a:br>
              <a:rPr lang="en-IN" sz="2400" b="0">
                <a:effectLst/>
                <a:latin typeface="Consolas" panose="020B0609020204030204" pitchFamily="49" charset="0"/>
              </a:rPr>
            </a:br>
            <a:endParaRPr lang="en-IN" sz="2400" b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plt.scatter(x, y, s=sizes, c=colors, cmap='viridis', alpha=0.6)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plt.colorbar()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plt.title("Advanced Scatter Plot")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plt.xlabel("X values")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plt.ylabel("Y values")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plt.show()</a:t>
            </a:r>
          </a:p>
        </p:txBody>
      </p:sp>
    </p:spTree>
    <p:extLst>
      <p:ext uri="{BB962C8B-B14F-4D97-AF65-F5344CB8AC3E}">
        <p14:creationId xmlns:p14="http://schemas.microsoft.com/office/powerpoint/2010/main" val="492912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25C4C182-9E31-B1FE-1538-45FABEA37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953" y="507683"/>
            <a:ext cx="7279957" cy="610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7066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8AD8-72E5-EF6E-BBD4-AFF4A5A1D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677400" cy="315912"/>
          </a:xfrm>
        </p:spPr>
        <p:txBody>
          <a:bodyPr>
            <a:noAutofit/>
          </a:bodyPr>
          <a:lstStyle/>
          <a:p>
            <a:r>
              <a:rPr lang="en-IN" sz="3600"/>
              <a:t>Method Explanations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F011A6-B844-3179-F679-B147BAEE5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753716"/>
              </p:ext>
            </p:extLst>
          </p:nvPr>
        </p:nvGraphicFramePr>
        <p:xfrm>
          <a:off x="838200" y="1432334"/>
          <a:ext cx="10751820" cy="4260440"/>
        </p:xfrm>
        <a:graphic>
          <a:graphicData uri="http://schemas.openxmlformats.org/drawingml/2006/table">
            <a:tbl>
              <a:tblPr/>
              <a:tblGrid>
                <a:gridCol w="3928110">
                  <a:extLst>
                    <a:ext uri="{9D8B030D-6E8A-4147-A177-3AD203B41FA5}">
                      <a16:colId xmlns:a16="http://schemas.microsoft.com/office/drawing/2014/main" val="552416535"/>
                    </a:ext>
                  </a:extLst>
                </a:gridCol>
                <a:gridCol w="6823710">
                  <a:extLst>
                    <a:ext uri="{9D8B030D-6E8A-4147-A177-3AD203B41FA5}">
                      <a16:colId xmlns:a16="http://schemas.microsoft.com/office/drawing/2014/main" val="2589121324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>
                          <a:latin typeface="Consolas" panose="020B0609020204030204" pitchFamily="49" charset="0"/>
                        </a:rPr>
                        <a:t>Code Snippet</a:t>
                      </a:r>
                      <a:endParaRPr lang="en-IN" sz="2600">
                        <a:latin typeface="Consolas" panose="020B0609020204030204" pitchFamily="49" charset="0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>
                          <a:latin typeface="Consolas" panose="020B0609020204030204" pitchFamily="49" charset="0"/>
                        </a:rPr>
                        <a:t>Explanation</a:t>
                      </a:r>
                      <a:endParaRPr lang="en-IN" sz="2600">
                        <a:latin typeface="Consolas" panose="020B0609020204030204" pitchFamily="49" charset="0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361787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plt.plot(x, y)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Creates a line plot. You can customize it with markers, line styles, and colors.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59794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plt.scatter(x, y)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Creates a scatter plot with customizable point sizes and colors.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455733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plt.bar(x, height)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Creates a vertical bar chart.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378363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plt.hist(data, bins)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Creates a histogram to show the distribution of data using specified bins.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945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739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310D0E-FF0B-5D4A-6C83-BBE486E68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549093"/>
              </p:ext>
            </p:extLst>
          </p:nvPr>
        </p:nvGraphicFramePr>
        <p:xfrm>
          <a:off x="462915" y="705485"/>
          <a:ext cx="11266170" cy="3012112"/>
        </p:xfrm>
        <a:graphic>
          <a:graphicData uri="http://schemas.openxmlformats.org/drawingml/2006/table">
            <a:tbl>
              <a:tblPr/>
              <a:tblGrid>
                <a:gridCol w="5015865">
                  <a:extLst>
                    <a:ext uri="{9D8B030D-6E8A-4147-A177-3AD203B41FA5}">
                      <a16:colId xmlns:a16="http://schemas.microsoft.com/office/drawing/2014/main" val="3964387531"/>
                    </a:ext>
                  </a:extLst>
                </a:gridCol>
                <a:gridCol w="6250305">
                  <a:extLst>
                    <a:ext uri="{9D8B030D-6E8A-4147-A177-3AD203B41FA5}">
                      <a16:colId xmlns:a16="http://schemas.microsoft.com/office/drawing/2014/main" val="923527636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plt.xlabel() / plt.ylabel()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Sets labels for the x-axis and y-axis.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85601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plt.title()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Sets the title of the plot.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48674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plt.legend()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Displays a legend for labeled plot elements.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29737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plt.grid()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Adds grid lines to improve readability.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771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3988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CD6DD1-158B-47FD-0431-1B15BE2E0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613129"/>
              </p:ext>
            </p:extLst>
          </p:nvPr>
        </p:nvGraphicFramePr>
        <p:xfrm>
          <a:off x="462915" y="796925"/>
          <a:ext cx="11266170" cy="3804592"/>
        </p:xfrm>
        <a:graphic>
          <a:graphicData uri="http://schemas.openxmlformats.org/drawingml/2006/table">
            <a:tbl>
              <a:tblPr/>
              <a:tblGrid>
                <a:gridCol w="5015865">
                  <a:extLst>
                    <a:ext uri="{9D8B030D-6E8A-4147-A177-3AD203B41FA5}">
                      <a16:colId xmlns:a16="http://schemas.microsoft.com/office/drawing/2014/main" val="2122068407"/>
                    </a:ext>
                  </a:extLst>
                </a:gridCol>
                <a:gridCol w="6250305">
                  <a:extLst>
                    <a:ext uri="{9D8B030D-6E8A-4147-A177-3AD203B41FA5}">
                      <a16:colId xmlns:a16="http://schemas.microsoft.com/office/drawing/2014/main" val="2505766806"/>
                    </a:ext>
                  </a:extLst>
                </a:gridCol>
              </a:tblGrid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plt.figure(figsize=(w, h))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Creates a new figure with a specified size (width and height in inches).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674017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plt.tight_layout()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Automatically adjusts subplot spacing for a cleaner layout.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765976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plt.savefig("filename")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Saves the current figure to a file (e.g., PNG, JPG, PDF, SVG).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511373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plt.twinx()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Creates a second y-axis that shares the same x-axis.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185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2889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B2BE-144D-AC68-5F30-98EE8A30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60230" cy="640715"/>
          </a:xfrm>
        </p:spPr>
        <p:txBody>
          <a:bodyPr>
            <a:normAutofit fontScale="90000"/>
          </a:bodyPr>
          <a:lstStyle/>
          <a:p>
            <a:r>
              <a:rPr lang="en-IN" b="1"/>
              <a:t>Matplotlib Bars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0A529-1C93-CF1C-A08C-606415B9E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010"/>
            <a:ext cx="10515600" cy="4953953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With Pyplot, we can use the bar() function to draw bar graphs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67420-8E77-80F1-07F3-3F3FD36355EF}"/>
              </a:ext>
            </a:extLst>
          </p:cNvPr>
          <p:cNvSpPr txBox="1"/>
          <p:nvPr/>
        </p:nvSpPr>
        <p:spPr>
          <a:xfrm>
            <a:off x="397193" y="2545824"/>
            <a:ext cx="60979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en-IN" sz="24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plt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24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4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plt.bar(x,y)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</a:t>
            </a:r>
            <a:endParaRPr lang="en-IN" sz="2400">
              <a:latin typeface="Consolas" panose="020B060902020403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ADC2F5-6EE7-B831-0D8B-309A4F0E1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39925"/>
            <a:ext cx="6096000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1463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B19AB-D17C-2CDC-D711-EEA0F3B5E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7190"/>
            <a:ext cx="10515600" cy="5799773"/>
          </a:xfrm>
        </p:spPr>
        <p:txBody>
          <a:bodyPr/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bar() function takes arguments that describes the layout of the bars.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categories and their values represented by the first and second argument as arrays.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4A5A1-0335-1BA9-5063-2B23418DEACC}"/>
              </a:ext>
            </a:extLst>
          </p:cNvPr>
          <p:cNvSpPr txBox="1"/>
          <p:nvPr/>
        </p:nvSpPr>
        <p:spPr>
          <a:xfrm>
            <a:off x="317183" y="2720608"/>
            <a:ext cx="60979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latin typeface="Consolas" panose="020B0609020204030204" pitchFamily="49" charset="0"/>
              </a:rPr>
              <a:t>import matplotlib.pyplot as plt</a:t>
            </a:r>
          </a:p>
          <a:p>
            <a:r>
              <a:rPr lang="en-IN" sz="2400">
                <a:latin typeface="Consolas" panose="020B0609020204030204" pitchFamily="49" charset="0"/>
              </a:rPr>
              <a:t>import numpy as np</a:t>
            </a:r>
          </a:p>
          <a:p>
            <a:endParaRPr lang="en-IN" sz="2400">
              <a:latin typeface="Consolas" panose="020B0609020204030204" pitchFamily="49" charset="0"/>
            </a:endParaRPr>
          </a:p>
          <a:p>
            <a:r>
              <a:rPr lang="en-IN" sz="2400">
                <a:latin typeface="Consolas" panose="020B0609020204030204" pitchFamily="49" charset="0"/>
              </a:rPr>
              <a:t>x = ["APPLES", "BANANAS"]</a:t>
            </a:r>
          </a:p>
          <a:p>
            <a:r>
              <a:rPr lang="en-IN" sz="2400">
                <a:latin typeface="Consolas" panose="020B0609020204030204" pitchFamily="49" charset="0"/>
              </a:rPr>
              <a:t>y = [400, 350]</a:t>
            </a:r>
          </a:p>
          <a:p>
            <a:endParaRPr lang="en-IN" sz="2400">
              <a:latin typeface="Consolas" panose="020B0609020204030204" pitchFamily="49" charset="0"/>
            </a:endParaRPr>
          </a:p>
          <a:p>
            <a:r>
              <a:rPr lang="en-IN" sz="2400">
                <a:latin typeface="Consolas" panose="020B0609020204030204" pitchFamily="49" charset="0"/>
              </a:rPr>
              <a:t>plt.bar(x, y)</a:t>
            </a:r>
          </a:p>
          <a:p>
            <a:r>
              <a:rPr lang="en-IN" sz="2400">
                <a:latin typeface="Consolas" panose="020B0609020204030204" pitchFamily="49" charset="0"/>
              </a:rPr>
              <a:t>plt.show()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B6B66ED-9C4D-C874-04A0-01B9C7742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989" y="2097305"/>
            <a:ext cx="5858827" cy="4383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8472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790D-4235-0B42-1523-E82284EF8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"/>
            <a:ext cx="10515600" cy="5891213"/>
          </a:xfrm>
        </p:spPr>
        <p:txBody>
          <a:bodyPr/>
          <a:lstStyle/>
          <a:p>
            <a:pPr marL="0" indent="0"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Horizontal Bars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the bars to be displayed horizontally instead of vertically, use the barh() function: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FA537-C9E2-E23A-4BA1-6EA83A882121}"/>
              </a:ext>
            </a:extLst>
          </p:cNvPr>
          <p:cNvSpPr txBox="1"/>
          <p:nvPr/>
        </p:nvSpPr>
        <p:spPr>
          <a:xfrm>
            <a:off x="488633" y="2366278"/>
            <a:ext cx="60979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plt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plt.barh(x, y)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</a:t>
            </a:r>
            <a:endParaRPr lang="en-IN" sz="2600">
              <a:latin typeface="Consolas" panose="020B0609020204030204" pitchFamily="49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0E72792-2D71-A075-3A7C-6E591EADF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469" y="2125772"/>
            <a:ext cx="51054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4360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9B9EF-DBA0-5005-3AEA-86DA2B41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"/>
            <a:ext cx="10515600" cy="5891213"/>
          </a:xfrm>
        </p:spPr>
        <p:txBody>
          <a:bodyPr/>
          <a:lstStyle/>
          <a:p>
            <a:pPr marL="0" indent="0"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Bar Color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 bar() and barh() take the keyword argument color to set the color of the bars: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E8CC3-8452-E9CE-A1A8-D621BA6E74F6}"/>
              </a:ext>
            </a:extLst>
          </p:cNvPr>
          <p:cNvSpPr txBox="1"/>
          <p:nvPr/>
        </p:nvSpPr>
        <p:spPr>
          <a:xfrm>
            <a:off x="88582" y="2253883"/>
            <a:ext cx="651795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plt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plt.bar(x, y, color =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</a:t>
            </a:r>
            <a:endParaRPr lang="en-IN" sz="2600">
              <a:latin typeface="Consolas" panose="020B0609020204030204" pitchFamily="49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79382DE-65A1-D73F-D718-33AA7D00F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24013"/>
            <a:ext cx="6096000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292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26E0-4F22-8D75-2CC2-AFC1BFCD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45930" cy="583565"/>
          </a:xfrm>
        </p:spPr>
        <p:txBody>
          <a:bodyPr>
            <a:normAutofit fontScale="90000"/>
          </a:bodyPr>
          <a:lstStyle/>
          <a:p>
            <a:r>
              <a:rPr lang="en-IN" b="1"/>
              <a:t>Color Names</a:t>
            </a:r>
            <a:br>
              <a:rPr lang="en-IN" b="1"/>
            </a:b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F4C55-6470-F5A7-1417-2A4E31BE0863}"/>
              </a:ext>
            </a:extLst>
          </p:cNvPr>
          <p:cNvSpPr txBox="1"/>
          <p:nvPr/>
        </p:nvSpPr>
        <p:spPr>
          <a:xfrm>
            <a:off x="374333" y="1652806"/>
            <a:ext cx="60979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plt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plt.bar(x, y, color =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"hotpink"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</a:t>
            </a:r>
            <a:endParaRPr lang="en-IN" sz="2600">
              <a:latin typeface="Consolas" panose="020B0609020204030204" pitchFamily="49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1D19A9A-FE04-B297-00BF-A1E7BEEC7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410" y="1511875"/>
            <a:ext cx="5863590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5961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83019-9CAE-C89E-B392-6140F371C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610"/>
            <a:ext cx="10515600" cy="5868353"/>
          </a:xfrm>
        </p:spPr>
        <p:txBody>
          <a:bodyPr/>
          <a:lstStyle/>
          <a:p>
            <a:pPr marL="0" indent="0"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Bar Width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 bar() takes the keyword argument width to set the width of the bars: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A5747-E15C-CA19-D847-2D561EF772A6}"/>
              </a:ext>
            </a:extLst>
          </p:cNvPr>
          <p:cNvSpPr txBox="1"/>
          <p:nvPr/>
        </p:nvSpPr>
        <p:spPr>
          <a:xfrm>
            <a:off x="134303" y="2000518"/>
            <a:ext cx="60979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plt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plt.bar(x, y, width =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</a:t>
            </a:r>
            <a:endParaRPr lang="en-IN" sz="2600">
              <a:latin typeface="Consolas" panose="020B0609020204030204" pitchFamily="49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12CC03E-FF88-C0DE-AE7E-AD5650A1F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470" y="2137410"/>
            <a:ext cx="5907254" cy="441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0686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9ED1-84E0-DCA4-E89B-17388781C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910"/>
            <a:ext cx="10515600" cy="5754053"/>
          </a:xfrm>
        </p:spPr>
        <p:txBody>
          <a:bodyPr/>
          <a:lstStyle/>
          <a:p>
            <a:pPr marL="0" indent="0"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Bar Height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 barh() takes the keyword argument height to set the height of the bars: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B154D-7BA4-82A3-657F-73AED12FBC2A}"/>
              </a:ext>
            </a:extLst>
          </p:cNvPr>
          <p:cNvSpPr txBox="1"/>
          <p:nvPr/>
        </p:nvSpPr>
        <p:spPr>
          <a:xfrm>
            <a:off x="202883" y="2145774"/>
            <a:ext cx="60979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plt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plt.barh(x, y, height =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</a:t>
            </a:r>
            <a:endParaRPr lang="en-IN" sz="2600">
              <a:latin typeface="Consolas" panose="020B0609020204030204" pitchFamily="49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737E07A-C554-93A6-4F77-DEAC055FC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117" y="2305050"/>
            <a:ext cx="6096000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1779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D10E4E-2E27-8974-238C-AA869DEC2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030838"/>
              </p:ext>
            </p:extLst>
          </p:nvPr>
        </p:nvGraphicFramePr>
        <p:xfrm>
          <a:off x="838200" y="412274"/>
          <a:ext cx="8923020" cy="1463040"/>
        </p:xfrm>
        <a:graphic>
          <a:graphicData uri="http://schemas.openxmlformats.org/drawingml/2006/table">
            <a:tbl>
              <a:tblPr/>
              <a:tblGrid>
                <a:gridCol w="4522470">
                  <a:extLst>
                    <a:ext uri="{9D8B030D-6E8A-4147-A177-3AD203B41FA5}">
                      <a16:colId xmlns:a16="http://schemas.microsoft.com/office/drawing/2014/main" val="4062117890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1201039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>
                          <a:latin typeface="Consolas" panose="020B0609020204030204" pitchFamily="49" charset="0"/>
                        </a:rPr>
                        <a:t>Chart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>
                          <a:latin typeface="Consolas" panose="020B0609020204030204" pitchFamily="49" charset="0"/>
                        </a:rPr>
                        <a:t>Thickness 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327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plt.bar() (vertical)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25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plt.barh() (horizontal)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height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45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911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E2C4-DD41-83BC-546C-9ABD4BC3B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7DA3-7897-7C01-99C0-F6CB5F03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14560" cy="652145"/>
          </a:xfrm>
        </p:spPr>
        <p:txBody>
          <a:bodyPr>
            <a:normAutofit fontScale="90000"/>
          </a:bodyPr>
          <a:lstStyle/>
          <a:p>
            <a:r>
              <a:rPr lang="en-IN" b="1"/>
              <a:t>Matplotlib Histograms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9A1CB-67A6-E25D-DAB5-B4C21FD72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450"/>
            <a:ext cx="10515600" cy="4862513"/>
          </a:xfrm>
        </p:spPr>
        <p:txBody>
          <a:bodyPr>
            <a:normAutofit fontScale="92500"/>
          </a:bodyPr>
          <a:lstStyle/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A histogram is a graph showing </a:t>
            </a:r>
            <a:r>
              <a:rPr 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distributions. Or A histogram shows the distribution of numerical data by grouping values into ranges (bins).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It is a graph showing the number of observations within each given interval.</a:t>
            </a:r>
          </a:p>
          <a:p>
            <a:r>
              <a:rPr lang="en-US" sz="2400"/>
              <a:t>In Matplotlib, we use the </a:t>
            </a:r>
            <a:r>
              <a:rPr lang="en-US"/>
              <a:t>hist()</a:t>
            </a:r>
            <a:r>
              <a:rPr lang="en-US" sz="2400"/>
              <a:t> function to create histograms.</a:t>
            </a:r>
          </a:p>
          <a:p>
            <a:r>
              <a:rPr lang="en-US" sz="2400"/>
              <a:t>The </a:t>
            </a:r>
            <a:r>
              <a:rPr lang="en-US"/>
              <a:t>hist()</a:t>
            </a:r>
            <a:r>
              <a:rPr lang="en-US" sz="2400"/>
              <a:t> function will use an array of numbers to create a histogram, the array is sent into the function as an argument.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The </a:t>
            </a:r>
            <a:r>
              <a:rPr lang="en-US"/>
              <a:t>hist()</a:t>
            </a:r>
            <a:r>
              <a:rPr lang="en-US" sz="2400"/>
              <a:t> function will read the array and produce a histogram:</a:t>
            </a:r>
          </a:p>
          <a:p>
            <a:pPr marL="0" indent="0">
              <a:buNone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6AAA0-1787-2FE1-83D3-9909BE0467BC}"/>
              </a:ext>
            </a:extLst>
          </p:cNvPr>
          <p:cNvSpPr txBox="1"/>
          <p:nvPr/>
        </p:nvSpPr>
        <p:spPr>
          <a:xfrm>
            <a:off x="986790" y="3839554"/>
            <a:ext cx="100317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>
                <a:effectLst/>
                <a:latin typeface="Consolas" panose="020B0609020204030204" pitchFamily="49" charset="0"/>
              </a:rPr>
              <a:t>import numpy as np</a:t>
            </a:r>
          </a:p>
          <a:p>
            <a:pPr>
              <a:buNone/>
            </a:pPr>
            <a:r>
              <a:rPr lang="en-US" sz="2800" b="0">
                <a:effectLst/>
                <a:latin typeface="Consolas" panose="020B0609020204030204" pitchFamily="49" charset="0"/>
              </a:rPr>
              <a:t>x = np.random.normal(170, 10, 250)</a:t>
            </a:r>
          </a:p>
          <a:p>
            <a:pPr>
              <a:buNone/>
            </a:pPr>
            <a:r>
              <a:rPr lang="en-US" sz="2800" b="0">
                <a:effectLst/>
                <a:latin typeface="Consolas" panose="020B0609020204030204" pitchFamily="49" charset="0"/>
              </a:rPr>
              <a:t>print(x) </a:t>
            </a:r>
          </a:p>
        </p:txBody>
      </p:sp>
    </p:spTree>
    <p:extLst>
      <p:ext uri="{BB962C8B-B14F-4D97-AF65-F5344CB8AC3E}">
        <p14:creationId xmlns:p14="http://schemas.microsoft.com/office/powerpoint/2010/main" val="11332403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387C28-C6F9-03AE-1BEC-18D4C8EEC9D1}"/>
              </a:ext>
            </a:extLst>
          </p:cNvPr>
          <p:cNvSpPr txBox="1"/>
          <p:nvPr/>
        </p:nvSpPr>
        <p:spPr>
          <a:xfrm>
            <a:off x="134302" y="264498"/>
            <a:ext cx="761523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plt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26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np.random.normal(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170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plt.hist(x)</a:t>
            </a:r>
            <a:b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6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 </a:t>
            </a:r>
            <a:endParaRPr lang="en-IN" sz="2600">
              <a:latin typeface="Consolas" panose="020B0609020204030204" pitchFamily="49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5321B2F-DFA1-D44F-305F-0374B3E6F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443" y="1746229"/>
            <a:ext cx="6373049" cy="484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5770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81B0-7501-10E2-89CD-5A44E97F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9345930" cy="400685"/>
          </a:xfrm>
        </p:spPr>
        <p:txBody>
          <a:bodyPr>
            <a:normAutofit fontScale="90000"/>
          </a:bodyPr>
          <a:lstStyle/>
          <a:p>
            <a:r>
              <a:rPr lang="en-IN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3A0C12-6963-B40C-6328-436038CCD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13" y="1040711"/>
            <a:ext cx="6325937" cy="5157352"/>
          </a:xfrm>
          <a:prstGeom prst="rect">
            <a:avLst/>
          </a:prstGeo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05ECB132-B11D-9D63-6BB6-841C2DC83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395" y="1593533"/>
            <a:ext cx="53530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2937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9F42F-6209-E292-F97B-E64852746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7210"/>
            <a:ext cx="10515600" cy="5639753"/>
          </a:xfrm>
        </p:spPr>
        <p:txBody>
          <a:bodyPr/>
          <a:lstStyle/>
          <a:p>
            <a:pPr marL="0" indent="0">
              <a:buNone/>
            </a:pPr>
            <a:r>
              <a:rPr lang="en-IN" sz="26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Basic Syntax</a:t>
            </a:r>
          </a:p>
          <a:p>
            <a:pPr marL="0" indent="0">
              <a:buNone/>
            </a:pPr>
            <a:r>
              <a:rPr lang="en-IN" sz="2600">
                <a:latin typeface="Consolas" panose="020B0609020204030204" pitchFamily="49" charset="0"/>
              </a:rPr>
              <a:t>plt.hist(data, bins)</a:t>
            </a:r>
          </a:p>
          <a:p>
            <a:pPr marL="0" indent="0">
              <a:buNone/>
            </a:pPr>
            <a:endParaRPr lang="en-IN" sz="2600">
              <a:latin typeface="Consolas" panose="020B0609020204030204" pitchFamily="49" charset="0"/>
            </a:endParaRP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data → Numeric dataset (list or array)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bins → Number of intervals (or specific bin edges)</a:t>
            </a: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9568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683CA1-7086-3876-7A4F-027FB74B913C}"/>
              </a:ext>
            </a:extLst>
          </p:cNvPr>
          <p:cNvSpPr txBox="1"/>
          <p:nvPr/>
        </p:nvSpPr>
        <p:spPr>
          <a:xfrm>
            <a:off x="157163" y="221259"/>
            <a:ext cx="60979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import matplotlib.pyplot as plt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data = [2, 4, 5, 7, 8,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    10, 12, 13, 15, 17,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    18, 20, 22, 24, 25,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    27, 29, 30, 32, 35]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plt.hist(data, bins=10, edgecolor="black")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plt.title("Histogram with 5 Bins")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plt.show()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B091F-29C0-CB0E-C730-3926FB28CA05}"/>
              </a:ext>
            </a:extLst>
          </p:cNvPr>
          <p:cNvSpPr txBox="1"/>
          <p:nvPr/>
        </p:nvSpPr>
        <p:spPr>
          <a:xfrm>
            <a:off x="726758" y="3953709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/>
              <a:t>So bins are approximately: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2 – 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8 – 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15 – 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22 – 29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29 – 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9F41B-00D7-D9C2-740D-2A882C5DFDEE}"/>
              </a:ext>
            </a:extLst>
          </p:cNvPr>
          <p:cNvSpPr txBox="1"/>
          <p:nvPr/>
        </p:nvSpPr>
        <p:spPr>
          <a:xfrm>
            <a:off x="6094096" y="4784705"/>
            <a:ext cx="6097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How the bins are divided:</a:t>
            </a:r>
          </a:p>
          <a:p>
            <a:pPr>
              <a:buNone/>
            </a:pPr>
            <a:r>
              <a:rPr lang="en-US" sz="2400"/>
              <a:t>Range = 35 − 2 = 33</a:t>
            </a:r>
            <a:br>
              <a:rPr lang="en-US" sz="2400"/>
            </a:br>
            <a:r>
              <a:rPr lang="en-US" sz="2400"/>
              <a:t>33 ÷ 5 ≈ 6.6 per bin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17194B-75C1-AAB8-ED47-49F44177A66F}"/>
              </a:ext>
            </a:extLst>
          </p:cNvPr>
          <p:cNvSpPr txBox="1"/>
          <p:nvPr/>
        </p:nvSpPr>
        <p:spPr>
          <a:xfrm>
            <a:off x="6094096" y="6208831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Fewer bins = wider bars = less detail</a:t>
            </a:r>
            <a:endParaRPr lang="en-IN" sz="2400"/>
          </a:p>
        </p:txBody>
      </p:sp>
      <p:pic>
        <p:nvPicPr>
          <p:cNvPr id="14342" name="Picture 6">
            <a:extLst>
              <a:ext uri="{FF2B5EF4-FFF2-40B4-BE49-F238E27FC236}">
                <a16:creationId xmlns:a16="http://schemas.microsoft.com/office/drawing/2014/main" id="{0ADEAC10-12E1-EEA8-86B6-FBC67EB07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067" y="187504"/>
            <a:ext cx="508635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950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D5EB-E346-E0BA-6370-51AD5C123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Picture 6">
            <a:extLst>
              <a:ext uri="{FF2B5EF4-FFF2-40B4-BE49-F238E27FC236}">
                <a16:creationId xmlns:a16="http://schemas.microsoft.com/office/drawing/2014/main" id="{F29217F4-F968-4DFF-4019-AD24885BD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997" y="850444"/>
            <a:ext cx="508635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0BD978-2873-9D85-A561-A918FF151D4D}"/>
              </a:ext>
            </a:extLst>
          </p:cNvPr>
          <p:cNvSpPr txBox="1"/>
          <p:nvPr/>
        </p:nvSpPr>
        <p:spPr>
          <a:xfrm>
            <a:off x="-1904" y="696228"/>
            <a:ext cx="60979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latin typeface="Consolas" panose="020B0609020204030204" pitchFamily="49" charset="0"/>
              </a:rPr>
              <a:t>Approximate bins: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Consolas" panose="020B0609020204030204" pitchFamily="49" charset="0"/>
              </a:rPr>
              <a:t>2–8</a:t>
            </a:r>
            <a:r>
              <a:rPr lang="en-IN" sz="2400">
                <a:latin typeface="Consolas" panose="020B0609020204030204" pitchFamily="49" charset="0"/>
              </a:rPr>
              <a:t> → values: 2, 4, 5, 7, 8 → </a:t>
            </a:r>
            <a:r>
              <a:rPr lang="en-IN" sz="2400" b="1">
                <a:solidFill>
                  <a:srgbClr val="C00000"/>
                </a:solidFill>
                <a:latin typeface="Consolas" panose="020B0609020204030204" pitchFamily="49" charset="0"/>
              </a:rPr>
              <a:t>5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Consolas" panose="020B0609020204030204" pitchFamily="49" charset="0"/>
              </a:rPr>
              <a:t>8–15</a:t>
            </a:r>
            <a:r>
              <a:rPr lang="en-IN" sz="2400">
                <a:latin typeface="Consolas" panose="020B0609020204030204" pitchFamily="49" charset="0"/>
              </a:rPr>
              <a:t> → 10, 12, 13, 15 → </a:t>
            </a:r>
            <a:r>
              <a:rPr lang="en-IN" sz="2400" b="1">
                <a:solidFill>
                  <a:srgbClr val="C00000"/>
                </a:solidFill>
                <a:latin typeface="Consolas" panose="020B0609020204030204" pitchFamily="49" charset="0"/>
              </a:rPr>
              <a:t>4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Consolas" panose="020B0609020204030204" pitchFamily="49" charset="0"/>
              </a:rPr>
              <a:t>15–22</a:t>
            </a:r>
            <a:r>
              <a:rPr lang="en-IN" sz="2400">
                <a:latin typeface="Consolas" panose="020B0609020204030204" pitchFamily="49" charset="0"/>
              </a:rPr>
              <a:t> → 17, 18, 20, 22 → </a:t>
            </a:r>
            <a:r>
              <a:rPr lang="en-IN" sz="2400" b="1">
                <a:solidFill>
                  <a:srgbClr val="C00000"/>
                </a:solidFill>
                <a:latin typeface="Consolas" panose="020B0609020204030204" pitchFamily="49" charset="0"/>
              </a:rPr>
              <a:t>4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Consolas" panose="020B0609020204030204" pitchFamily="49" charset="0"/>
              </a:rPr>
              <a:t>22–29</a:t>
            </a:r>
            <a:r>
              <a:rPr lang="en-IN" sz="2400">
                <a:latin typeface="Consolas" panose="020B0609020204030204" pitchFamily="49" charset="0"/>
              </a:rPr>
              <a:t> → 24, 25, 27, 29 → </a:t>
            </a:r>
            <a:r>
              <a:rPr lang="en-IN" sz="2400" b="1">
                <a:solidFill>
                  <a:srgbClr val="C00000"/>
                </a:solidFill>
                <a:latin typeface="Consolas" panose="020B0609020204030204" pitchFamily="49" charset="0"/>
              </a:rPr>
              <a:t>4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Consolas" panose="020B0609020204030204" pitchFamily="49" charset="0"/>
              </a:rPr>
              <a:t>29–35</a:t>
            </a:r>
            <a:r>
              <a:rPr lang="en-IN" sz="2400">
                <a:latin typeface="Consolas" panose="020B0609020204030204" pitchFamily="49" charset="0"/>
              </a:rPr>
              <a:t> → 30, 32, 35 → </a:t>
            </a:r>
            <a:r>
              <a:rPr lang="en-IN" sz="2400" b="1">
                <a:solidFill>
                  <a:srgbClr val="C00000"/>
                </a:solidFill>
                <a:latin typeface="Consolas" panose="020B0609020204030204" pitchFamily="49" charset="0"/>
              </a:rPr>
              <a:t>3 values</a:t>
            </a:r>
          </a:p>
        </p:txBody>
      </p:sp>
    </p:spTree>
    <p:extLst>
      <p:ext uri="{BB962C8B-B14F-4D97-AF65-F5344CB8AC3E}">
        <p14:creationId xmlns:p14="http://schemas.microsoft.com/office/powerpoint/2010/main" val="2022360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6AADC1DE-AC31-57CA-D215-08596886B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" y="717232"/>
            <a:ext cx="521017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72A950C4-64EB-A618-EB57-9FBEBFFEE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690" y="717232"/>
            <a:ext cx="52959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745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36B8A0-DF78-1BB7-5D2E-D664D7F0C2B0}"/>
              </a:ext>
            </a:extLst>
          </p:cNvPr>
          <p:cNvSpPr txBox="1"/>
          <p:nvPr/>
        </p:nvSpPr>
        <p:spPr>
          <a:xfrm>
            <a:off x="168592" y="242720"/>
            <a:ext cx="780954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import numpy as np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import matplotlib.pyplot as plt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# Generate random data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data = np.random.normal(170, 10, 250)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# Create histogram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plt.hist(data, bins=40)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plt.xlabel("Value")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plt.ylabel("Frequency")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plt.title("Histogram Example")</a:t>
            </a:r>
          </a:p>
          <a:p>
            <a:pPr>
              <a:buNone/>
            </a:pPr>
            <a:r>
              <a:rPr lang="en-IN" sz="2600" b="0">
                <a:effectLst/>
                <a:latin typeface="Consolas" panose="020B0609020204030204" pitchFamily="49" charset="0"/>
              </a:rPr>
              <a:t>plt.show()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7CFF52B-E1B7-F1DD-B6EC-C0A0B568B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2169210"/>
            <a:ext cx="54864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39691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5186A9-AB42-6640-1D73-5BDC9DD7E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357363"/>
              </p:ext>
            </p:extLst>
          </p:nvPr>
        </p:nvGraphicFramePr>
        <p:xfrm>
          <a:off x="632460" y="835184"/>
          <a:ext cx="10515600" cy="38100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553580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35798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>
                          <a:latin typeface="Consolas" panose="020B0609020204030204" pitchFamily="49" charset="0"/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>
                          <a:latin typeface="Consolas" panose="020B0609020204030204" pitchFamily="49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403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bins=20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Number of bars (intervals)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42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color="blue"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Bar color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968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edgecolor="black"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Border color of bars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239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alpha=0.5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Transparency (0–1)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476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density=True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nsolas" panose="020B0609020204030204" pitchFamily="49" charset="0"/>
                        </a:rPr>
                        <a:t>Shows probability density instead of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1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range=(min, max)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nsolas" panose="020B0609020204030204" pitchFamily="49" charset="0"/>
                        </a:rPr>
                        <a:t>Limits the data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353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0749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90D89F-D436-7566-B83E-AFFF18AC2660}"/>
              </a:ext>
            </a:extLst>
          </p:cNvPr>
          <p:cNvSpPr txBox="1"/>
          <p:nvPr/>
        </p:nvSpPr>
        <p:spPr>
          <a:xfrm>
            <a:off x="274320" y="333137"/>
            <a:ext cx="1110996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import matplotlib.pyplot as plt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data = [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    30, 35, 40, 42, 45, 47, 48, 49,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    50, 50, 51, 52, 53, 55, 57, 60,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    62, 65, 70, 75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plt.figure(figsize=(8, 5))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plt.hist(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    data,bins=5,color="blue",</a:t>
            </a:r>
          </a:p>
          <a:p>
            <a:pPr>
              <a:buNone/>
            </a:pPr>
            <a:r>
              <a:rPr lang="en-IN" sz="2200">
                <a:latin typeface="Consolas" panose="020B0609020204030204" pitchFamily="49" charset="0"/>
              </a:rPr>
              <a:t>    </a:t>
            </a:r>
            <a:r>
              <a:rPr lang="en-IN" sz="2200" b="0">
                <a:effectLst/>
                <a:latin typeface="Consolas" panose="020B0609020204030204" pitchFamily="49" charset="0"/>
              </a:rPr>
              <a:t>edgecolor="black",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    alpha=0.5,density=True,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    range=(30, 80)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plt.xlabel("Value")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plt.ylabel("Density")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plt.title("Histogram Without Random Data")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plt.grid(True)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plt.tight_layout()</a:t>
            </a:r>
          </a:p>
          <a:p>
            <a:pPr>
              <a:buNone/>
            </a:pPr>
            <a:r>
              <a:rPr lang="en-IN" sz="2200" b="0">
                <a:effectLst/>
                <a:latin typeface="Consolas" panose="020B0609020204030204" pitchFamily="49" charset="0"/>
              </a:rPr>
              <a:t>plt.show()</a:t>
            </a:r>
          </a:p>
        </p:txBody>
      </p:sp>
    </p:spTree>
    <p:extLst>
      <p:ext uri="{BB962C8B-B14F-4D97-AF65-F5344CB8AC3E}">
        <p14:creationId xmlns:p14="http://schemas.microsoft.com/office/powerpoint/2010/main" val="3180669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7BF7A655-3EEF-3043-1C01-4C2CDE34C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964" y="672464"/>
            <a:ext cx="9051199" cy="561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1715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BA87-E842-A7DD-1916-6B84B928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125"/>
            <a:ext cx="9711690" cy="469265"/>
          </a:xfrm>
        </p:spPr>
        <p:txBody>
          <a:bodyPr>
            <a:normAutofit fontScale="90000"/>
          </a:bodyPr>
          <a:lstStyle/>
          <a:p>
            <a:r>
              <a:rPr lang="en-IN" b="1"/>
              <a:t>Matplotlib Subplot</a:t>
            </a:r>
            <a:br>
              <a:rPr lang="en-IN" b="1"/>
            </a:b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45F0C-B9F0-4EE2-FFBD-AD6ADEC0D5D5}"/>
              </a:ext>
            </a:extLst>
          </p:cNvPr>
          <p:cNvSpPr txBox="1"/>
          <p:nvPr/>
        </p:nvSpPr>
        <p:spPr>
          <a:xfrm>
            <a:off x="525780" y="834390"/>
            <a:ext cx="88011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Display Multiple Plots</a:t>
            </a:r>
          </a:p>
          <a:p>
            <a:pPr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With the subplot() function you can draw multiple plots in one figure: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D06F-B302-3B8D-DA21-917346FBB888}"/>
              </a:ext>
            </a:extLst>
          </p:cNvPr>
          <p:cNvSpPr txBox="1"/>
          <p:nvPr/>
        </p:nvSpPr>
        <p:spPr>
          <a:xfrm>
            <a:off x="525779" y="1951672"/>
            <a:ext cx="112552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subplot() function takes three arguments that describes the layout of the figure.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layout is organized in rows and columns, which are represented by the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second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argument.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third argument represents the index of the current plot.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C6CE7B-1E14-B2D8-8B13-6EFF71720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95" y="3807617"/>
            <a:ext cx="10660430" cy="11079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224F9F-FB63-3F35-5539-EE75C1109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95" y="5293980"/>
            <a:ext cx="10672264" cy="99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676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A05949-34F8-0E55-65C0-F52D62E7CBCE}"/>
              </a:ext>
            </a:extLst>
          </p:cNvPr>
          <p:cNvSpPr txBox="1"/>
          <p:nvPr/>
        </p:nvSpPr>
        <p:spPr>
          <a:xfrm>
            <a:off x="260033" y="231563"/>
            <a:ext cx="60979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import matplotlib.pyplot as plt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import numpy as np</a:t>
            </a:r>
          </a:p>
          <a:p>
            <a:pPr>
              <a:buNone/>
            </a:pPr>
            <a:endParaRPr lang="en-IN" sz="2400" b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#plot 1: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x = np.array([0, 1, 2, 3])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y = np.array([3, 8, 1, 10])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plt.subplot(1, 2, 1)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plt.plot(x,y)</a:t>
            </a:r>
          </a:p>
          <a:p>
            <a:pPr>
              <a:buNone/>
            </a:pPr>
            <a:endParaRPr lang="en-IN" sz="2400" b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#plot 2:x = np.array([0, 1, 2, 3])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y = np.array([10, 20, 30, 40])</a:t>
            </a:r>
          </a:p>
          <a:p>
            <a:pPr>
              <a:buNone/>
            </a:pPr>
            <a:br>
              <a:rPr lang="en-IN" sz="2400" b="0">
                <a:effectLst/>
                <a:latin typeface="Consolas" panose="020B0609020204030204" pitchFamily="49" charset="0"/>
              </a:rPr>
            </a:br>
            <a:r>
              <a:rPr lang="en-IN" sz="2400" b="0">
                <a:effectLst/>
                <a:latin typeface="Consolas" panose="020B0609020204030204" pitchFamily="49" charset="0"/>
              </a:rPr>
              <a:t>plt.subplot(1, 2, 2)</a:t>
            </a: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plt.plot(x,y)</a:t>
            </a:r>
            <a:br>
              <a:rPr lang="en-IN" sz="2400" b="0">
                <a:effectLst/>
                <a:latin typeface="Consolas" panose="020B0609020204030204" pitchFamily="49" charset="0"/>
              </a:rPr>
            </a:br>
            <a:endParaRPr lang="en-IN" sz="2400" b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plt.show()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3B997C5D-0248-0440-1AC6-D20992D51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023" y="1265471"/>
            <a:ext cx="51720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7266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92BC-65A5-BB65-081C-F330CD3A6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25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Draw 2 plots on top of each other: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911C1-1931-4BC9-FD4B-E0C07988163F}"/>
              </a:ext>
            </a:extLst>
          </p:cNvPr>
          <p:cNvSpPr txBox="1"/>
          <p:nvPr/>
        </p:nvSpPr>
        <p:spPr>
          <a:xfrm>
            <a:off x="1197293" y="764114"/>
            <a:ext cx="60979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en-IN" sz="24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plt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24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#plot 1:</a:t>
            </a:r>
            <a:br>
              <a:rPr lang="en-IN" sz="240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plt.subplot(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plt.plot(x,y)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#plot 2:</a:t>
            </a:r>
            <a:br>
              <a:rPr lang="en-IN" sz="240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plt.subplot(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plt.plot(x,y)</a:t>
            </a: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4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</a:t>
            </a:r>
            <a:endParaRPr lang="en-IN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4393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36AD71FE-C71B-273D-2F5A-2C7C39C19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243" y="593408"/>
            <a:ext cx="6914049" cy="5258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1303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4D9F11-E4AB-5B31-7177-91708C57B00E}"/>
              </a:ext>
            </a:extLst>
          </p:cNvPr>
          <p:cNvSpPr txBox="1"/>
          <p:nvPr/>
        </p:nvSpPr>
        <p:spPr>
          <a:xfrm>
            <a:off x="202883" y="0"/>
            <a:ext cx="6097904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en-IN" sz="22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plt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220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plt.subplot(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plt.plot(x,y)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plt.subplot(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plt.plot(x,y)</a:t>
            </a:r>
          </a:p>
          <a:p>
            <a:endParaRPr lang="en-IN" sz="2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x = np.array([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y = np.array([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8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10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plt.subplot(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  <a:t>plt.plot(x,y)</a:t>
            </a:r>
            <a:br>
              <a:rPr lang="en-IN" sz="220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IN">
                <a:solidFill>
                  <a:srgbClr val="000000"/>
                </a:solidFill>
                <a:effectLst/>
              </a:rPr>
            </a:br>
            <a:br>
              <a:rPr lang="en-IN">
                <a:solidFill>
                  <a:srgbClr val="000000"/>
                </a:solidFill>
                <a:effectLst/>
              </a:rPr>
            </a:b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DD9F1-215D-F61C-0660-359395887414}"/>
              </a:ext>
            </a:extLst>
          </p:cNvPr>
          <p:cNvSpPr txBox="1"/>
          <p:nvPr/>
        </p:nvSpPr>
        <p:spPr>
          <a:xfrm>
            <a:off x="6449377" y="56138"/>
            <a:ext cx="6097904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>
                <a:solidFill>
                  <a:srgbClr val="000000"/>
                </a:solidFill>
                <a:effectLst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plt.subplot(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plt.plot(x,y)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plt.subplot(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plt.plot(x,y)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np.array([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plt.subplot(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20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plt.plot(x,y)</a:t>
            </a: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plt.show() </a:t>
            </a:r>
            <a:endParaRPr lang="en-IN" sz="2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3806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E7D30EEF-AB18-8123-8CEC-4C8CE1073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543" y="650558"/>
            <a:ext cx="7379912" cy="5613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8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3918</TotalTime>
  <Words>3790</Words>
  <Application>Microsoft Office PowerPoint</Application>
  <PresentationFormat>Widescreen</PresentationFormat>
  <Paragraphs>449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5" baseType="lpstr">
      <vt:lpstr>Aptos</vt:lpstr>
      <vt:lpstr>Aptos Display</vt:lpstr>
      <vt:lpstr>Arial</vt:lpstr>
      <vt:lpstr>Consolas</vt:lpstr>
      <vt:lpstr>Courier New</vt:lpstr>
      <vt:lpstr>Times New Roman</vt:lpstr>
      <vt:lpstr>Office Theme</vt:lpstr>
      <vt:lpstr>Data Aggregation and Grouping</vt:lpstr>
      <vt:lpstr>Basic grouping</vt:lpstr>
      <vt:lpstr>PowerPoint Presentation</vt:lpstr>
      <vt:lpstr>PowerPoint Presentation</vt:lpstr>
      <vt:lpstr>Example</vt:lpstr>
      <vt:lpstr>Output</vt:lpstr>
      <vt:lpstr>.groupby()</vt:lpstr>
      <vt:lpstr>.sum()</vt:lpstr>
      <vt:lpstr>PowerPoint Presentation</vt:lpstr>
      <vt:lpstr>Aggregation Functions</vt:lpstr>
      <vt:lpstr>.sum()</vt:lpstr>
      <vt:lpstr>.sum()</vt:lpstr>
      <vt:lpstr>PowerPoint Presentation</vt:lpstr>
      <vt:lpstr>PowerPoint Presentation</vt:lpstr>
      <vt:lpstr>Multiple Aggregations</vt:lpstr>
      <vt:lpstr>Custom Aggregations</vt:lpstr>
      <vt:lpstr>Broadcast Group Mean to Each Row</vt:lpstr>
      <vt:lpstr>Filtering Groups</vt:lpstr>
      <vt:lpstr>Pivot Tables</vt:lpstr>
      <vt:lpstr>Matplotlib Basic Plotting </vt:lpstr>
      <vt:lpstr>Line Plot</vt:lpstr>
      <vt:lpstr>PowerPoint Presentation</vt:lpstr>
      <vt:lpstr>PowerPoint Presentation</vt:lpstr>
      <vt:lpstr>Common Markers</vt:lpstr>
      <vt:lpstr>PowerPoint Presentation</vt:lpstr>
      <vt:lpstr>linestyle</vt:lpstr>
      <vt:lpstr>PowerPoint Presentation</vt:lpstr>
      <vt:lpstr>Color (Changes line color)</vt:lpstr>
      <vt:lpstr>Label (Used for legend.)</vt:lpstr>
      <vt:lpstr>PowerPoint Presentation</vt:lpstr>
      <vt:lpstr>Plot Multiple Lines</vt:lpstr>
      <vt:lpstr>Adding Titles and Labels</vt:lpstr>
      <vt:lpstr>Example</vt:lpstr>
      <vt:lpstr>Scatter Plot</vt:lpstr>
      <vt:lpstr>Example</vt:lpstr>
      <vt:lpstr>PowerPoint Presentation</vt:lpstr>
      <vt:lpstr>c → Color</vt:lpstr>
      <vt:lpstr>Example</vt:lpstr>
      <vt:lpstr>Example</vt:lpstr>
      <vt:lpstr>PowerPoint Presentation</vt:lpstr>
      <vt:lpstr>Method Explanations</vt:lpstr>
      <vt:lpstr>PowerPoint Presentation</vt:lpstr>
      <vt:lpstr>PowerPoint Presentation</vt:lpstr>
      <vt:lpstr>Matplotlib Bars </vt:lpstr>
      <vt:lpstr>PowerPoint Presentation</vt:lpstr>
      <vt:lpstr>PowerPoint Presentation</vt:lpstr>
      <vt:lpstr>PowerPoint Presentation</vt:lpstr>
      <vt:lpstr>Color Names </vt:lpstr>
      <vt:lpstr>PowerPoint Presentation</vt:lpstr>
      <vt:lpstr>PowerPoint Presentation</vt:lpstr>
      <vt:lpstr>PowerPoint Presentation</vt:lpstr>
      <vt:lpstr>Matplotlib Histograms 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Matplotlib Subplot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PRABHURAJ METIPATIL</dc:creator>
  <cp:lastModifiedBy>PRABHURAJ METIPATIL</cp:lastModifiedBy>
  <cp:revision>41</cp:revision>
  <dcterms:created xsi:type="dcterms:W3CDTF">2026-02-23T03:37:05Z</dcterms:created>
  <dcterms:modified xsi:type="dcterms:W3CDTF">2026-02-26T03:27:27Z</dcterms:modified>
</cp:coreProperties>
</file>